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84119" y="0"/>
            <a:ext cx="108000" cy="685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720000"/>
            <a:ext cx="3960000" cy="18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2880000"/>
            <a:ext cx="10752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Studio di Fattibilita Tecnico-Economica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780000"/>
            <a:ext cx="10752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1">
                <a:solidFill>
                  <a:srgbClr val="F0C95C"/>
                </a:solidFill>
                <a:latin typeface="Calibri"/>
              </a:rPr>
              <a:t>Piattaforma Aerea HALE / VTOL per le Aree Interne Italiane</a:t>
            </a:r>
          </a:p>
        </p:txBody>
      </p:sp>
      <p:pic>
        <p:nvPicPr>
          <p:cNvPr id="8" name="Picture 7" descr="HA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0" y="4500000"/>
            <a:ext cx="5040000" cy="16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0000" y="6318000"/>
            <a:ext cx="10752119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FIRMAMENTO TECHNOLOGIES SOCIETA' COOPERATIVA . Bozza M+11 . Maggio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534000"/>
            <a:ext cx="10752119" cy="14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1">
                <a:solidFill>
                  <a:srgbClr val="F4F4F6"/>
                </a:solidFill>
                <a:latin typeface="Calibri"/>
              </a:rPr>
              <a:t>Deck per Consiglio di Amministrazione + Sponsor istituzionali (Coopfond, Regione Liguria)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900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900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Il progetto in pillole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1278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1278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Strategia duale, Percorso 6A e Percorso 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1656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0" y="1656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Verdetto consolidato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2034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0" y="2034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Caso pilota Pentema, contesto territoriale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2412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0" y="2412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Modello di business e value proposition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2790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0000" y="2790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Quadro economico-finanziario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3168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000" y="3168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Mix finanziamento raccomandato Y1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3546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8.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0" y="3546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Cronoprogramma e gate decisionali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000" y="3924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9.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0000" y="3924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Risk profile e showstopper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00" y="4302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10.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4302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Visione 10 anni e posizionamento sovrano EU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000" y="4680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11.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000" y="4680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Decisione formale richiesta al CdA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00" y="5058000"/>
            <a:ext cx="72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 i="0">
                <a:solidFill>
                  <a:srgbClr val="F0C95C"/>
                </a:solidFill>
                <a:latin typeface="Calibri"/>
              </a:rPr>
              <a:t>12.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0" y="5058000"/>
            <a:ext cx="967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A1A3D"/>
                </a:solidFill>
                <a:latin typeface="Calibri"/>
              </a:rPr>
              <a:t>Action items Y0-Y1 prioritari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Il progetto in 5 punti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007999"/>
            <a:ext cx="1800000" cy="720000"/>
          </a:xfrm>
          <a:prstGeom prst="rect">
            <a:avLst/>
          </a:prstGeom>
          <a:solidFill>
            <a:srgbClr val="F0C95C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007999"/>
            <a:ext cx="18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A1A3D"/>
                </a:solidFill>
                <a:latin typeface="Calibri"/>
              </a:rPr>
              <a:t>Cosa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007999"/>
            <a:ext cx="8772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A1A3D"/>
                </a:solidFill>
                <a:latin typeface="Calibri"/>
              </a:rPr>
              <a:t>Piattaforma aerea unmanned per servizi territoriali alle Aree Interne italiane, operata come operatore di servizi ricorrenti, non come venditore di velivoli.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1871999"/>
            <a:ext cx="1800000" cy="720000"/>
          </a:xfrm>
          <a:prstGeom prst="rect">
            <a:avLst/>
          </a:prstGeom>
          <a:solidFill>
            <a:srgbClr val="F0C95C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1871999"/>
            <a:ext cx="18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A1A3D"/>
                </a:solidFill>
                <a:latin typeface="Calibri"/>
              </a:rPr>
              <a:t>Dove pilota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1871999"/>
            <a:ext cx="8772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A1A3D"/>
                </a:solidFill>
                <a:latin typeface="Calibri"/>
              </a:rPr>
              <a:t>Pentema, frazione del Comune di Torriglia (Genova), 14 abitanti ISTAT, area SNAI Valli Antola-Tigullio.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2735999"/>
            <a:ext cx="1800000" cy="720000"/>
          </a:xfrm>
          <a:prstGeom prst="rect">
            <a:avLst/>
          </a:prstGeom>
          <a:solidFill>
            <a:srgbClr val="F0C95C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2735999"/>
            <a:ext cx="18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A1A3D"/>
                </a:solidFill>
                <a:latin typeface="Calibri"/>
              </a:rPr>
              <a:t>Strategia duale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2735999"/>
            <a:ext cx="8772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A1A3D"/>
                </a:solidFill>
                <a:latin typeface="Calibri"/>
              </a:rPr>
              <a:t>Percorso 6A VTOL pilota (0-12 mesi, low-risk) + Percorso 6B HALE stratosferico R&amp;D Phase B (24-48+ mesi, high-risk).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3599999"/>
            <a:ext cx="1800000" cy="720000"/>
          </a:xfrm>
          <a:prstGeom prst="rect">
            <a:avLst/>
          </a:prstGeom>
          <a:solidFill>
            <a:srgbClr val="F0C95C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599999"/>
            <a:ext cx="18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A1A3D"/>
                </a:solidFill>
                <a:latin typeface="Calibri"/>
              </a:rPr>
              <a:t>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0000" y="3599999"/>
            <a:ext cx="8772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A1A3D"/>
                </a:solidFill>
                <a:latin typeface="Calibri"/>
              </a:rPr>
              <a:t>Monitoraggio frane, antincendio boschivo, connettivita di emergenza, mapping infrastrutture, agricoltura cooperative.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4463999"/>
            <a:ext cx="1800000" cy="720000"/>
          </a:xfrm>
          <a:prstGeom prst="rect">
            <a:avLst/>
          </a:prstGeom>
          <a:solidFill>
            <a:srgbClr val="F0C95C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4463999"/>
            <a:ext cx="18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A1A3D"/>
                </a:solidFill>
                <a:latin typeface="Calibri"/>
              </a:rPr>
              <a:t>Visione 10 anni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463999"/>
            <a:ext cx="8772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0A1A3D"/>
                </a:solidFill>
                <a:latin typeface="Calibri"/>
              </a:rPr>
              <a:t>Nodo italiano fondatore di una futura infrastruttura sovrana europea HAPS, complementare a IRIS².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Strategia duale, Percorso 6A + 6B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5400000" cy="468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900000"/>
            <a:ext cx="5400000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900000"/>
            <a:ext cx="54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Percorso 6A, VTOL Pilota Pentema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51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Tecnologia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151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VTOL ibrido TRL 8-9 (JOUAV CW-30E + Plan B Tekever AR3)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196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Orizzonte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196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0-12 mesi (M+0 → M+12)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241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Budget CapEx Y1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00" y="241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€700k - €2M (IVA + contingency 15% incluse)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286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OpEx Y2 RECONCILED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0000" y="286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€1.18M/anno centrale (con +3 FTE regulatory team)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31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Revenue Y1 RECALIBRATED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00" y="331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€260k centrale (range €220-300k, min €200k SyR-Cost-003)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376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Casi d'uso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00" y="376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Frane, antincendio, connettivita emergenza, mapping, cooperative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421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Verdetto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0000" y="421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HOLD CON PIANO REGOLATORIO RAFFORZATO (P 45-60%) / GO COND. (P 5-15%)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000" y="900000"/>
            <a:ext cx="5400000" cy="468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0000" y="900000"/>
            <a:ext cx="5400000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000" y="900000"/>
            <a:ext cx="54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Percorso 6B, HALE Stratosferico R&amp;D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151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Tecnologia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000" y="151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HALE solare, apertura 25-30 m, MTOW 80-150 kg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0" y="196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Quota operativa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196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18-21 km (FL590-690)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0000" y="241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Orizzonte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0000" y="241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24-48+ mesi (Phase B R&amp;D)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0" y="286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Budget Phase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0000" y="286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€5.5-13.5M (mix 50-75% grant pubblico)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0000" y="331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Pivot strutturale M+3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0000" y="331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Operatore di servizi su piattaforme prime contractor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0000" y="376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Showstopper aperti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0000" y="376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5 RSK rossi (energy, aeroelast., HAPS framework, funding, TC)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0000" y="4212000"/>
            <a:ext cx="18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Verdetto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0000" y="4212000"/>
            <a:ext cx="324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HOLD CON CRITERI USCITA STRINGENTI + Pivot Strutturale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Verdetto consolidato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36000"/>
            <a:ext cx="1980000" cy="324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936000"/>
            <a:ext cx="198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Percorso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0" y="936000"/>
            <a:ext cx="3240000" cy="324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0000" y="936000"/>
            <a:ext cx="32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Verdetto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0" y="936000"/>
            <a:ext cx="2160000" cy="324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0" y="936000"/>
            <a:ext cx="216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Probabilita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0" y="936000"/>
            <a:ext cx="3744000" cy="324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0" y="936000"/>
            <a:ext cx="3744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Razionale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1260000"/>
            <a:ext cx="198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1260000"/>
            <a:ext cx="198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A1A3D"/>
                </a:solidFill>
                <a:latin typeface="Calibri"/>
              </a:rPr>
              <a:t>6A VTOL pilota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20000" y="1260000"/>
            <a:ext cx="324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0000" y="1260000"/>
            <a:ext cx="324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ED9A00"/>
                </a:solidFill>
                <a:latin typeface="Calibri"/>
              </a:rPr>
              <a:t>HOLD CON PIANO RAFFORZATO (base)
GO CONDIZIONATO (ottimistico)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0" y="1260000"/>
            <a:ext cx="21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0" y="1260000"/>
            <a:ext cx="216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45-60% Hold
5-15% Go pieno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0" y="1260000"/>
            <a:ext cx="3744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0" y="1260000"/>
            <a:ext cx="3744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Solido tecnicamente, debole su engagement esterno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2520000"/>
            <a:ext cx="1980000" cy="12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2520000"/>
            <a:ext cx="198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A1A3D"/>
                </a:solidFill>
                <a:latin typeface="Calibri"/>
              </a:rPr>
              <a:t>6B HALE R&amp;D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20000" y="2520000"/>
            <a:ext cx="3240000" cy="12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20000" y="2520000"/>
            <a:ext cx="324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C03333"/>
                </a:solidFill>
                <a:latin typeface="Calibri"/>
              </a:rPr>
              <a:t>HOLD CON CRITERI USCITA STRINGENTI
+ Pivot strutturale prime contractor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2520000"/>
            <a:ext cx="2160000" cy="12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000" y="2520000"/>
            <a:ext cx="216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Hold permanente
fino gate G5 M+24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0000" y="2520000"/>
            <a:ext cx="3744000" cy="12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0000" y="2520000"/>
            <a:ext cx="3744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Base rate 0% HALE solari commerciali in 22 anni; capital intensity $50M-1B benchmark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5220000"/>
            <a:ext cx="11124000" cy="900000"/>
          </a:xfrm>
          <a:prstGeom prst="rect">
            <a:avLst/>
          </a:prstGeom>
          <a:solidFill>
            <a:srgbClr val="FDF8E8"/>
          </a:solidFill>
          <a:ln w="9525">
            <a:solidFill>
              <a:srgbClr val="F0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000" y="5256000"/>
            <a:ext cx="10800000" cy="82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0A1A3D"/>
                </a:solidFill>
                <a:latin typeface="Calibri"/>
              </a:rPr>
              <a:t>CAVEAT PROBABILISTICO ONESTO (post audit M+3): le 5 hard conditions C1-C5 del Percorso 6A sono in AND logico. P(AND tutte soddisfatte) realistica al gate G3 e 5-15% per Go pieno, 45-60% per Hold con piano e re-review M+13-16. Scenario base atteso = HOLD CON PIANO RAFFORZATO.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Caso pilota Pentema, contesto territoriale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900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Localita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0" y="900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Pentema, frazione del Comune di Torriglia (GE)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296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Coordinate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0" y="1296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Circa 44.5°N 9.2°E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1692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Altitudine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00" y="1692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1100-1300 m s.l.m.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2088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Popolazione ISTAT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0" y="2088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14 residenti (7 M, 7 F), 11 famiglie, 100 edifici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2484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Distanza centro abitato Torriglia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000" y="2484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3.27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2880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Area SNAI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2880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Valli Antola-Tigullio (ciclo 2021-2027)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3276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Vincolo ambientale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0" y="3276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Parco Naturale Regionale dell'Antola (L.R. Liguria 12/1995)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3672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Rete Natura 2000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0000" y="3672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SIC/ZSC/ZPS IT1331402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4068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Specie target Allegato 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0000" y="4068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Aquila chrysaetos, Bubo bubo (avifauna nidificante)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4464000"/>
            <a:ext cx="396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Rete utenti pilota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0000" y="4464000"/>
            <a:ext cx="648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10 cooperative Legacoop, capofila Fabrica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Modello di business, service-only su cooperative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5400000" cy="234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900000"/>
            <a:ext cx="5400000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900000"/>
            <a:ext cx="54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Service-only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1403999"/>
            <a:ext cx="5112000" cy="17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Nessuna vendita di velivoli. Erogazione di servizi ricorrenti: monitoraggio EO, connettivita emergenza, analytics, ore-volo + analytics, outcome-based, DaaS.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900000"/>
            <a:ext cx="5400000" cy="234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900000"/>
            <a:ext cx="5400000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0" y="900000"/>
            <a:ext cx="54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 pilastri vantaggio competitivo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000" y="1403999"/>
            <a:ext cx="5112000" cy="17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(i) specializzazione geografica Aree Interne, (ii) modello cooperativo Legacoop, (iii) sostenibilita ESG (propulsione solare/elettrica + fibra lino), (iv) approccio incrementale VTOL → HALE.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420000"/>
            <a:ext cx="5400000" cy="234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420000"/>
            <a:ext cx="5400000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3420000"/>
            <a:ext cx="54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Canali distributivi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3923999"/>
            <a:ext cx="5112000" cy="17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B2G regionale (anchor Regione Liguria) - B2G locale (Protezione Civile, ARPA, Enti Parco) - B2B cooperative (rete Legacoop scaled).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3420000"/>
            <a:ext cx="5400000" cy="2340000"/>
          </a:xfrm>
          <a:prstGeom prst="rect">
            <a:avLst/>
          </a:prstGeom>
          <a:solidFill>
            <a:srgbClr val="F4F4F6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000" y="3420000"/>
            <a:ext cx="5400000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000" y="3420000"/>
            <a:ext cx="54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Pricing PA RECALIBRATED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3923999"/>
            <a:ext cx="5112000" cy="17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Post audit Cluster D (Planetek, e-GEOS, NHazca): €60-90k/anno base + €30-60k premium persistence/sovranita. Falsificato il baseline originale €150k/anno → €355-405k revenue Y1.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Numeri chiave del progetto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4860000" cy="36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900000"/>
            <a:ext cx="48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0" y="900000"/>
            <a:ext cx="1800000" cy="36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0" y="900000"/>
            <a:ext cx="18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Valore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0" y="900000"/>
            <a:ext cx="4464000" cy="36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0" y="900000"/>
            <a:ext cx="4464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1260000"/>
            <a:ext cx="486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" y="126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CapEx Y1 (6A)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0" y="126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2000" y="126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€700k - €2M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1260000"/>
            <a:ext cx="446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2000" y="126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IVA + contingency 15% incluse; sliding realistic €2.5-3.5M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1620000"/>
            <a:ext cx="486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000" y="162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OpEx Y2 RECONCILED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0" y="1620000"/>
            <a:ext cx="180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72000" y="162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€1.18M/anno (centro)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620000"/>
            <a:ext cx="4464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2000" y="162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Range €1.05-1.30M con +3 FTE regulatory mandatory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1980000"/>
            <a:ext cx="486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000" y="198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Revenue Y1 RECALIBRATED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0" y="198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72000" y="198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€260k (centro)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80000"/>
            <a:ext cx="446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72000" y="198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Range €220-300k, hard floor €200k SyR-Cost-003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2340000"/>
            <a:ext cx="486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000" y="234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Break-even cumulato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0" y="2340000"/>
            <a:ext cx="180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72000" y="234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Y5-Y6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0000" y="2340000"/>
            <a:ext cx="4464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2000" y="234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Post recalibration revenue + OpEx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000" y="2700000"/>
            <a:ext cx="486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000" y="270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NPV 10y scenario base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0000" y="270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72000" y="270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+€3.5M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0" y="2700000"/>
            <a:ext cx="446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2000" y="270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WACC 12% blended (grant + equity + R&amp;D credit)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0000" y="3060000"/>
            <a:ext cx="486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000" y="306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IRR 10y scenario base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0000" y="3060000"/>
            <a:ext cx="180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72000" y="306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12-18%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0000" y="3060000"/>
            <a:ext cx="4464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2000" y="306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Post recalibration; pre era 18-25%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0000" y="3420000"/>
            <a:ext cx="486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000" y="342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Payback semplice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00000" y="342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72000" y="342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5-7 anni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00000" y="3420000"/>
            <a:ext cx="446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2000" y="342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Post recalibration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0000" y="3780000"/>
            <a:ext cx="486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000" y="378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ARR Y3 target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00000" y="3780000"/>
            <a:ext cx="180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72000" y="378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€1.5-3.5M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00000" y="3780000"/>
            <a:ext cx="4464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72000" y="378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Scale-up Liguria + 1 regione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0000" y="4140000"/>
            <a:ext cx="486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000" y="414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ARR Y5 target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00000" y="414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72000" y="414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€3-8M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00000" y="4140000"/>
            <a:ext cx="446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72000" y="414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Multi-regione + HAPS subscale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0000" y="4500000"/>
            <a:ext cx="486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000" y="450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Capital intensity Y10 small fleet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00000" y="4500000"/>
            <a:ext cx="1800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72000" y="450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€500M - €2B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00000" y="4500000"/>
            <a:ext cx="4464000" cy="360000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72000" y="450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5-10 HAPS + 10-20 VTOL/MALE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0000" y="4860000"/>
            <a:ext cx="486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2000" y="4860000"/>
            <a:ext cx="471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Capital intensity Y10 EU sovereign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00000" y="4860000"/>
            <a:ext cx="18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72000" y="4860000"/>
            <a:ext cx="165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€10-30B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00000" y="4860000"/>
            <a:ext cx="4464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72000" y="4860000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Precondizione: programma EU dedicato analog IRIS²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Mix finanziamento raccomandato Y1 Percorso 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00000"/>
            <a:ext cx="4860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900000"/>
            <a:ext cx="486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0" y="900000"/>
            <a:ext cx="1440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0" y="900000"/>
            <a:ext cx="14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Target 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0000" y="900000"/>
            <a:ext cx="1440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0" y="900000"/>
            <a:ext cx="14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% mix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0000" y="900000"/>
            <a:ext cx="3384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000" y="900000"/>
            <a:ext cx="3384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Status M+3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1403999"/>
            <a:ext cx="486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" y="1403999"/>
            <a:ext cx="471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A1A3D"/>
                </a:solidFill>
                <a:latin typeface="Calibri"/>
              </a:rPr>
              <a:t>Coopfond Cooding Prototypes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0" y="1403999"/>
            <a:ext cx="144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2000" y="1403999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50k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0000" y="1403999"/>
            <a:ext cx="144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2000" y="1403999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0000" y="1403999"/>
            <a:ext cx="3384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2000" y="1403999"/>
            <a:ext cx="32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DR-002 verifica calendario bando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1907998"/>
            <a:ext cx="486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000" y="1907998"/>
            <a:ext cx="471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A1A3D"/>
                </a:solidFill>
                <a:latin typeface="Calibri"/>
              </a:rPr>
              <a:t>Coopfond Cooding-Invest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0" y="1907998"/>
            <a:ext cx="144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72000" y="1907998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150-300k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907998"/>
            <a:ext cx="144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000" y="1907998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15-20%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80000" y="1907998"/>
            <a:ext cx="3384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2000" y="1907998"/>
            <a:ext cx="32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Q2 2026 pending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2411997"/>
            <a:ext cx="486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000" y="2411997"/>
            <a:ext cx="471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A1A3D"/>
                </a:solidFill>
                <a:latin typeface="Calibri"/>
              </a:rPr>
              <a:t>Regione Liguria FESR 2021-2027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0" y="2411997"/>
            <a:ext cx="144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72000" y="2411997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300-500k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40000" y="2411997"/>
            <a:ext cx="144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12000" y="2411997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25-40%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80000" y="2411997"/>
            <a:ext cx="3384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2000" y="2411997"/>
            <a:ext cx="32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OQ-010 LoI in costruzione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000" y="2915996"/>
            <a:ext cx="486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000" y="2915996"/>
            <a:ext cx="471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A1A3D"/>
                </a:solidFill>
                <a:latin typeface="Calibri"/>
              </a:rPr>
              <a:t>PNRR Aerospazio / IS4Aerospace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00000" y="2915996"/>
            <a:ext cx="144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72000" y="2915996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0-300k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40000" y="2915996"/>
            <a:ext cx="144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12000" y="2915996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0-20%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80000" y="2915996"/>
            <a:ext cx="3384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2000" y="2915996"/>
            <a:ext cx="32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Partnership Polito DIMEAS in valutazione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0000" y="3419995"/>
            <a:ext cx="486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000" y="3419995"/>
            <a:ext cx="471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A1A3D"/>
                </a:solidFill>
                <a:latin typeface="Calibri"/>
              </a:rPr>
              <a:t>Equity privato (founder + seed)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00000" y="3419995"/>
            <a:ext cx="144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72000" y="3419995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200-500k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40000" y="3419995"/>
            <a:ext cx="144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12000" y="3419995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15-35%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80000" y="3419995"/>
            <a:ext cx="3384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2000" y="3419995"/>
            <a:ext cx="32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Round seed Q1 2026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0000" y="3923994"/>
            <a:ext cx="486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000" y="3923994"/>
            <a:ext cx="471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A1A3D"/>
                </a:solidFill>
                <a:latin typeface="Calibri"/>
              </a:rPr>
              <a:t>R&amp;D tax credit (L. 160/2019)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00000" y="3923994"/>
            <a:ext cx="144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72000" y="3923994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50-150k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40000" y="3923994"/>
            <a:ext cx="144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12000" y="3923994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A1A3D"/>
                </a:solidFill>
                <a:latin typeface="Calibri"/>
              </a:rPr>
              <a:t>5-15%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80000" y="3923994"/>
            <a:ext cx="3384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2000" y="3923994"/>
            <a:ext cx="32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Cumulabile post-spesa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0000" y="4427993"/>
            <a:ext cx="4860000" cy="503999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000" y="4427993"/>
            <a:ext cx="471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TOTALE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00000" y="4427993"/>
            <a:ext cx="1440000" cy="503999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72000" y="4427993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1A3D"/>
                </a:solidFill>
                <a:latin typeface="Calibri"/>
              </a:rPr>
              <a:t>€0.75-1.75M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40000" y="4427993"/>
            <a:ext cx="1440000" cy="503999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12000" y="4427993"/>
            <a:ext cx="129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1A3D"/>
                </a:solidFill>
                <a:latin typeface="Calibri"/>
              </a:rPr>
              <a:t>100%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80000" y="4427993"/>
            <a:ext cx="3384000" cy="503999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52000" y="4427993"/>
            <a:ext cx="324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1A3D"/>
                </a:solidFill>
                <a:latin typeface="Calibri"/>
              </a:rPr>
              <a:t>Mix da consolidare entro M+10 (60% committed)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Cronoprogramma e gate decisionali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2880000"/>
            <a:ext cx="11124000" cy="54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4059" y="2520000"/>
            <a:ext cx="36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059" y="3420000"/>
            <a:ext cx="1332000" cy="90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059" y="3528000"/>
            <a:ext cx="133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059" y="3780000"/>
            <a:ext cx="133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M+0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059" y="3960000"/>
            <a:ext cx="13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Kick-off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8059" y="2520000"/>
            <a:ext cx="36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059" y="3420000"/>
            <a:ext cx="1332000" cy="90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059" y="3528000"/>
            <a:ext cx="133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059" y="3780000"/>
            <a:ext cx="133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M+3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059" y="3960000"/>
            <a:ext cx="13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Concept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2059" y="2520000"/>
            <a:ext cx="36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24059" y="3420000"/>
            <a:ext cx="1332000" cy="90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4059" y="3528000"/>
            <a:ext cx="133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4059" y="3780000"/>
            <a:ext cx="133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M+6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4059" y="3960000"/>
            <a:ext cx="13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Architecture Baselined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76059" y="2520000"/>
            <a:ext cx="36000" cy="720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28059" y="3240000"/>
            <a:ext cx="1332000" cy="1080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8059" y="3348000"/>
            <a:ext cx="133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A1A3D"/>
                </a:solidFill>
                <a:latin typeface="Calibri"/>
              </a:rPr>
              <a:t>G3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8059" y="3600000"/>
            <a:ext cx="133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A1A3D"/>
                </a:solidFill>
                <a:latin typeface="Calibri"/>
              </a:rPr>
              <a:t>M+10/11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8059" y="3780000"/>
            <a:ext cx="133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0A1A3D"/>
                </a:solidFill>
                <a:latin typeface="Calibri"/>
              </a:rPr>
              <a:t>★ FEASIBILITY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0059" y="2520000"/>
            <a:ext cx="36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32059" y="3420000"/>
            <a:ext cx="1332000" cy="90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32059" y="3528000"/>
            <a:ext cx="133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2059" y="3780000"/>
            <a:ext cx="133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M+12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2059" y="3960000"/>
            <a:ext cx="13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Fine pilota VTOL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4059" y="2520000"/>
            <a:ext cx="36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36059" y="3420000"/>
            <a:ext cx="1332000" cy="90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6059" y="3528000"/>
            <a:ext cx="133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6059" y="3780000"/>
            <a:ext cx="133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M+24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6059" y="3960000"/>
            <a:ext cx="13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Phase B 6B Decision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88059" y="2520000"/>
            <a:ext cx="36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40059" y="3420000"/>
            <a:ext cx="1332000" cy="90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40059" y="3528000"/>
            <a:ext cx="133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0059" y="3780000"/>
            <a:ext cx="133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M+36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40059" y="3960000"/>
            <a:ext cx="13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Phase B Midterm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92059" y="2520000"/>
            <a:ext cx="36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44059" y="3420000"/>
            <a:ext cx="1332000" cy="90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44059" y="3528000"/>
            <a:ext cx="133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44059" y="3780000"/>
            <a:ext cx="133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M+48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44059" y="3960000"/>
            <a:ext cx="13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Phase B 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000" y="1260000"/>
            <a:ext cx="54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A1A3D"/>
                </a:solidFill>
                <a:latin typeface="Calibri"/>
              </a:rPr>
              <a:t>STUDIO DI FATTIBILITA' (M+0 → M+11)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80000" y="1260000"/>
            <a:ext cx="28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A1A3D"/>
                </a:solidFill>
                <a:latin typeface="Calibri"/>
              </a:rPr>
              <a:t>PILOTA 6A VTOL (M+12 → M+24)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0000" y="1260000"/>
            <a:ext cx="32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A1A3D"/>
                </a:solidFill>
                <a:latin typeface="Calibri"/>
              </a:rPr>
              <a:t>R&amp;D 6B HALE PHASE B (M+24 → M+48)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0000" y="5040000"/>
            <a:ext cx="11124000" cy="900000"/>
          </a:xfrm>
          <a:prstGeom prst="rect">
            <a:avLst/>
          </a:prstGeom>
          <a:solidFill>
            <a:srgbClr val="FDF8E8"/>
          </a:solidFill>
          <a:ln w="9525">
            <a:solidFill>
              <a:srgbClr val="F0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0000" y="5076000"/>
            <a:ext cx="10800000" cy="82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A1A3D"/>
                </a:solidFill>
                <a:latin typeface="Calibri"/>
              </a:rPr>
              <a:t>★ G3 FEASIBILITY GATE PRIMARIO (M+10-11): verdetto Go / Hold / No-Go per ciascun percorso. Oggetto formale del presente Studio. Scenario realistico atteso: HOLD CON PIANO RAFFORZATO + re-review G3-bis M+13-16.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Risk profile, 5 showstopper formali (Risk Register A.2)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936000"/>
            <a:ext cx="360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936000"/>
            <a:ext cx="36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" y="936000"/>
            <a:ext cx="1080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936000"/>
            <a:ext cx="108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RSK-ID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0000" y="936000"/>
            <a:ext cx="3600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0000" y="936000"/>
            <a:ext cx="360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80000" y="936000"/>
            <a:ext cx="1080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0000" y="936000"/>
            <a:ext cx="108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0000" y="936000"/>
            <a:ext cx="5004000" cy="503999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0000" y="936000"/>
            <a:ext cx="5004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Mitigazione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1439999"/>
            <a:ext cx="36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1439999"/>
            <a:ext cx="28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" y="1439999"/>
            <a:ext cx="108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" y="1439999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RSK-TEC-001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0000" y="1439999"/>
            <a:ext cx="360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6000" y="1439999"/>
            <a:ext cx="352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Tecnico, energy balance HALE inverno 44°N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80000" y="1439999"/>
            <a:ext cx="108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16000" y="1439999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C03333"/>
                </a:solidFill>
                <a:latin typeface="Calibri"/>
              </a:rPr>
              <a:t>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0000" y="1439999"/>
            <a:ext cx="5004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6000" y="1439999"/>
            <a:ext cx="4932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E5 Seasonal-only marzo-ottobre mandatory Plan A; -50.1% deficit confermato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1943998"/>
            <a:ext cx="36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00" y="1943998"/>
            <a:ext cx="28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" y="1943998"/>
            <a:ext cx="108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6000" y="1943998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RSK-REG-001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80000" y="1943998"/>
            <a:ext cx="360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6000" y="1943998"/>
            <a:ext cx="352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Regolatorio, framework HAPS EU mancante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80000" y="1943998"/>
            <a:ext cx="108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16000" y="1943998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C03333"/>
                </a:solidFill>
                <a:latin typeface="Calibri"/>
              </a:rPr>
              <a:t>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0000" y="1943998"/>
            <a:ext cx="5004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6000" y="1943998"/>
            <a:ext cx="4932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Engagement EASA Innovation Network + RMT HAPS request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000" y="2447997"/>
            <a:ext cx="36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00" y="2447997"/>
            <a:ext cx="28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" y="2447997"/>
            <a:ext cx="108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000" y="2447997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RSK-FIN-001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80000" y="2447997"/>
            <a:ext cx="360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6000" y="2447997"/>
            <a:ext cx="352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Finanziario, Phase B €5.5-13.5M non committed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80000" y="2447997"/>
            <a:ext cx="108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16000" y="2447997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C03333"/>
                </a:solidFill>
                <a:latin typeface="Calibri"/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60000" y="2447997"/>
            <a:ext cx="5004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6000" y="2447997"/>
            <a:ext cx="4932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Mix funding 50%+ pubblico + Series A/B €5-15M raised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0000" y="2951996"/>
            <a:ext cx="36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00" y="2951996"/>
            <a:ext cx="28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000" y="2951996"/>
            <a:ext cx="108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000" y="2951996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RSK-TEC-002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80000" y="2951996"/>
            <a:ext cx="360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6000" y="2951996"/>
            <a:ext cx="352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Tecnico, aeroelasticita ala high-AR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80000" y="2951996"/>
            <a:ext cx="1080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16000" y="2951996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C03333"/>
                </a:solidFill>
                <a:latin typeface="Calibri"/>
              </a:rPr>
              <a:t>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60000" y="2951996"/>
            <a:ext cx="5004000" cy="503999"/>
          </a:xfrm>
          <a:prstGeom prst="rect">
            <a:avLst/>
          </a:prstGeom>
          <a:solidFill>
            <a:srgbClr val="F4F4F6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96000" y="2951996"/>
            <a:ext cx="4932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Aeroelastic analysis preliminare M+10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0000" y="3455995"/>
            <a:ext cx="36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00" y="3455995"/>
            <a:ext cx="28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A1A3D"/>
                </a:solidFill>
                <a:latin typeface="Calibri"/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0000" y="3455995"/>
            <a:ext cx="108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6000" y="3455995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A1A3D"/>
                </a:solidFill>
                <a:latin typeface="Calibri"/>
              </a:rPr>
              <a:t>RSK-TEC-003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80000" y="3455995"/>
            <a:ext cx="360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16000" y="3455995"/>
            <a:ext cx="352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Tecnico, Type Certification HALE &gt; 5 anni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80000" y="3455995"/>
            <a:ext cx="1080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16000" y="3455995"/>
            <a:ext cx="1008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C03333"/>
                </a:solidFill>
                <a:latin typeface="Calibri"/>
              </a:rPr>
              <a:t>16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60000" y="3455995"/>
            <a:ext cx="5004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96000" y="3455995"/>
            <a:ext cx="4932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0A1A3D"/>
                </a:solidFill>
                <a:latin typeface="Calibri"/>
              </a:rPr>
              <a:t>Special Condition negoziata caso per caso EASA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0000" y="4140000"/>
            <a:ext cx="540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A1A3D"/>
                </a:solidFill>
                <a:latin typeface="Calibri"/>
              </a:rPr>
              <a:t>Risk reduction baseline → post-mitigation: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0000" y="4428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0A1A3D"/>
                </a:solidFill>
                <a:latin typeface="Calibri"/>
              </a:rPr>
              <a:t>Pre-mitigation: RED 17 . YELLOW 66 . GREEN 33 (su 116 rischi baseline v1.0). Post-mitigation residual: RED 2 . YELLOW 19 . GREEN 95. RED reduction 88% (17 → 2). YELLOW reduction 71% (66 → 19). Aggiornamento v1.5: integrazione 3 RSK-AMB ambientali post A.12 VIA v2.0 → totale 119 rischi in 14 categorie.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Visione 10 anni, posizionamento sovrano 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007999"/>
            <a:ext cx="1440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007999"/>
            <a:ext cx="14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000" y="1007999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A1A3D"/>
                </a:solidFill>
                <a:latin typeface="Calibri"/>
              </a:rPr>
              <a:t>Pilota Pentema VTOL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1007999"/>
            <a:ext cx="54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Pilot validato + revenue €260k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1835998"/>
            <a:ext cx="1440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835998"/>
            <a:ext cx="14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Y2-Y3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000" y="1835998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A1A3D"/>
                </a:solidFill>
                <a:latin typeface="Calibri"/>
              </a:rPr>
              <a:t>Scale-up SNAI Italia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1835998"/>
            <a:ext cx="54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3-4 regioni, flotta 3-8 VTOL/MALE + R&amp;D HALE subscale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2663997"/>
            <a:ext cx="1440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2663997"/>
            <a:ext cx="14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Y3-Y6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000" y="2663997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A1A3D"/>
                </a:solidFill>
                <a:latin typeface="Calibri"/>
              </a:rPr>
              <a:t>Primo HALE prototipo italiano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2663997"/>
            <a:ext cx="54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Servizio commerciale HAPS pilota + Series A-B raised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3491996"/>
            <a:ext cx="1440000" cy="72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3491996"/>
            <a:ext cx="14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Y6-Y8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3491996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A1A3D"/>
                </a:solidFill>
                <a:latin typeface="Calibri"/>
              </a:rPr>
              <a:t>Costellazione italiana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3491996"/>
            <a:ext cx="54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3-10 HAPS operativi + servizi NTN + EO persistente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4319995"/>
            <a:ext cx="1440000" cy="720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4319995"/>
            <a:ext cx="14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A1A3D"/>
                </a:solidFill>
                <a:latin typeface="Calibri"/>
              </a:rPr>
              <a:t>Y8-Y10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000" y="4319995"/>
            <a:ext cx="36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A1A3D"/>
                </a:solidFill>
                <a:latin typeface="Calibri"/>
              </a:rPr>
              <a:t>Consorzio EU stratospheric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0000" y="4319995"/>
            <a:ext cx="54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Calibri"/>
              </a:rPr>
              <a:t>Italia + FR/DE/ES + posizionamento EU sovereign complementare IRIS²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5292000"/>
            <a:ext cx="11124000" cy="648000"/>
          </a:xfrm>
          <a:prstGeom prst="rect">
            <a:avLst/>
          </a:prstGeom>
          <a:solidFill>
            <a:srgbClr val="FDF8E8"/>
          </a:solidFill>
          <a:ln w="9525">
            <a:solidFill>
              <a:srgbClr val="F0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5328000"/>
            <a:ext cx="10800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rgbClr val="0A1A3D"/>
                </a:solidFill>
                <a:latin typeface="Calibri"/>
              </a:rPr>
              <a:t>Linguaggio pubblico raccomandato: "complementare a IRIS²", mai "alternativa europea a Starlink". IRIS² baseline LEO+MEO puro (DR-009 closure), governance SpaceRISE, lancio 2029, ops 2031. Finestra strategica Firmamento 2027-2030 per posizionamento stratospheric gap-filler via DG CNECT engagement.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Decisione formale richiesta al CdA + sponsor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990000"/>
            <a:ext cx="251999" cy="2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936000"/>
            <a:ext cx="5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95C"/>
                </a:solidFill>
                <a:latin typeface="Calibri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936000"/>
            <a:ext cx="10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Approvare Studio di Fattibilita Vol. 1 + 2 + 3 (versione M+11 bozza)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1403999"/>
            <a:ext cx="251999" cy="2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1349999"/>
            <a:ext cx="5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95C"/>
                </a:solidFill>
                <a:latin typeface="Calibri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1349999"/>
            <a:ext cx="10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Approvare GO CONDIZIONATO Percorso 6A con 5 hard conditions M+10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1817998"/>
            <a:ext cx="251999" cy="2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1763998"/>
            <a:ext cx="5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95C"/>
                </a:solidFill>
                <a:latin typeface="Calibr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1763998"/>
            <a:ext cx="10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Approvare HOLD Percorso 6B + pivot strutturale verso prime contractor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" y="2231997"/>
            <a:ext cx="251999" cy="2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000" y="2177997"/>
            <a:ext cx="5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95C"/>
                </a:solidFill>
                <a:latin typeface="Calibri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0000" y="2177997"/>
            <a:ext cx="10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Approvare budget Y1 €2.5-3.5M (CapEx + OpEx + bridge financing + regulatory team)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" y="2645996"/>
            <a:ext cx="251999" cy="2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000" y="2591996"/>
            <a:ext cx="5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95C"/>
                </a:solidFill>
                <a:latin typeface="Calibri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0000" y="2591996"/>
            <a:ext cx="10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Approvare doppio binario di pianificazione (nominale + sliding §9.12)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" y="3059995"/>
            <a:ext cx="251999" cy="2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3005995"/>
            <a:ext cx="5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95C"/>
                </a:solidFill>
                <a:latin typeface="Calibri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0000" y="3005995"/>
            <a:ext cx="10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Approvare assunzione 3 FTE regulatory (CISO + DPO + Head Regulatory) entro M+6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000" y="3473994"/>
            <a:ext cx="251999" cy="2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000" y="3419994"/>
            <a:ext cx="5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95C"/>
                </a:solidFill>
                <a:latin typeface="Calibri"/>
              </a:rPr>
              <a:t>7.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0000" y="3419994"/>
            <a:ext cx="10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Approvare engagement Regione Liguria + Coopfond + Comune Torriglia + cooperative entro M+6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" y="3887993"/>
            <a:ext cx="251999" cy="2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3833993"/>
            <a:ext cx="5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0C95C"/>
                </a:solidFill>
                <a:latin typeface="Calibri"/>
              </a:rPr>
              <a:t>8.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0000" y="3833993"/>
            <a:ext cx="10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Approvare re-baseline Gate G3-bis a M+13-16 come opzione legittima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4860000"/>
            <a:ext cx="540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0A1A3D"/>
                </a:solidFill>
                <a:latin typeface="Calibri"/>
              </a:rPr>
              <a:t>Firma CEO Firmamento: ___________________________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000" y="4860000"/>
            <a:ext cx="540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0A1A3D"/>
                </a:solidFill>
                <a:latin typeface="Calibri"/>
              </a:rPr>
              <a:t>Firma CdA: ___________________________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5148000"/>
            <a:ext cx="540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0A1A3D"/>
                </a:solidFill>
                <a:latin typeface="Calibri"/>
              </a:rPr>
              <a:t>Firma Sponsor Coopfond: ___________________________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0000" y="5148000"/>
            <a:ext cx="540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0A1A3D"/>
                </a:solidFill>
                <a:latin typeface="Calibri"/>
              </a:rPr>
              <a:t>Firma Sponsor Regione Liguria: ___________________________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5580000"/>
            <a:ext cx="1116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3A3A3A"/>
                </a:solidFill>
                <a:latin typeface="Calibri"/>
              </a:rPr>
              <a:t>Data delibera: __________________ . Documento di approvazione M+11 . Maggio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92119" cy="432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4000"/>
            <a:ext cx="612527" cy="34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0000" y="90000"/>
            <a:ext cx="72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Top-10 Action Items prioritari Y0-Y1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0" y="90000"/>
            <a:ext cx="162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1">
                <a:solidFill>
                  <a:srgbClr val="F0C95C"/>
                </a:solidFill>
                <a:latin typeface="Calibri"/>
              </a:rPr>
              <a:t>14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2119" cy="1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42000"/>
            <a:ext cx="1183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1">
                <a:solidFill>
                  <a:srgbClr val="3A3A3A"/>
                </a:solidFill>
                <a:latin typeface="Calibri"/>
              </a:rPr>
              <a:t>Firmamento Technologies Soc. Coop. . P.IVA IT03038500991 . Via Brigata Liguria 105 R, Genova . PEC firmamentotechnologies@pec.it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900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900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Capital structure resistente (founder ≥ 51% + golden share + anti-acquisition)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80000" y="918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0" y="918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1278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0000" y="1278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LoI Regione Liguria firmata con DGR specifica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80000" y="1296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0000" y="1296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1656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0000" y="1656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Pre-application meeting ENAC + feedback documentato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80000" y="1674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80000" y="1674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M+3-6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2034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000" y="2034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Workshop pubblico comunita Pentema (14 abitanti) + DPIA pubblica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0000" y="2052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0000" y="2052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M+3-6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2412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000" y="2412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Assunzione 3 FTE regulatory (CISO + DPO + Head Regulatory)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80000" y="2430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80000" y="2430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M+6-9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2790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000" y="2790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Benchmark pricing PA reale (e-GEOS, Planetek, NHazca)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80000" y="2808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0000" y="2808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3168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7.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0000" y="3168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Quotation JOUAV + Tekever parallele per CapEx accurate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80000" y="3186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0000" y="3186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3546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8.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0000" y="3546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Engagement EASA Innovation Network + RMT HAPS request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80000" y="3564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80000" y="3564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M+9-12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3924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9.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0000" y="3924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Modello finanziario Excel + DCF + sensitivity + Monte Carlo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80000" y="3942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80000" y="3942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M+6-9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" y="4302000"/>
            <a:ext cx="5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 i="0">
                <a:solidFill>
                  <a:srgbClr val="F0C95C"/>
                </a:solidFill>
                <a:latin typeface="Calibri"/>
              </a:rPr>
              <a:t>10.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60000" y="4302000"/>
            <a:ext cx="86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0A1A3D"/>
                </a:solidFill>
                <a:latin typeface="Calibri"/>
              </a:rPr>
              <a:t>Position paper "Italian Stratospheric Sovereignty" + dialogo DG CNECT/DEFIS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80000" y="4320000"/>
            <a:ext cx="1440000" cy="28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80000" y="4320000"/>
            <a:ext cx="144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0C95C"/>
                </a:solidFill>
                <a:latin typeface="Calibri"/>
              </a:rPr>
              <a:t>M+9-12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84119" y="0"/>
            <a:ext cx="108000" cy="6858000"/>
          </a:xfrm>
          <a:prstGeom prst="rect">
            <a:avLst/>
          </a:prstGeom>
          <a:solidFill>
            <a:srgbClr val="F0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Firmamento Techn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720000"/>
            <a:ext cx="4320000" cy="2412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3060000"/>
            <a:ext cx="10752119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Grazie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960000"/>
            <a:ext cx="10752119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1">
                <a:solidFill>
                  <a:srgbClr val="F0C95C"/>
                </a:solidFill>
                <a:latin typeface="Calibri"/>
              </a:rPr>
              <a:t>Per domande e approfondimenti: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4500000"/>
            <a:ext cx="1075211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PEC: firmamentotechnologies@pec.it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860000"/>
            <a:ext cx="1075211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0C95C"/>
                </a:solidFill>
                <a:latin typeface="Calibri"/>
              </a:rPr>
              <a:t>FIRMAMENTO TECHNOLOGIES SOCIETA' COOPERATIVA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148000"/>
            <a:ext cx="10752119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F4F4F6"/>
                </a:solidFill>
                <a:latin typeface="Calibri"/>
              </a:rPr>
              <a:t>Via Brigata Liguria 105 R . 16121 Genova (GE) . P.IVA IT03038500991 . REA 528629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6498000"/>
            <a:ext cx="10752119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1">
                <a:solidFill>
                  <a:srgbClr val="F4F4F6"/>
                </a:solidFill>
                <a:latin typeface="Calibri"/>
              </a:rPr>
              <a:t>Studio di Fattibilita HALE/VTOL . Bozza M+11 . Maggio 2026 . Documento riservato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