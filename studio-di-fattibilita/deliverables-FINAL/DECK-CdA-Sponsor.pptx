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0A1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8000" cy="6858000"/>
          </a:xfrm>
          <a:prstGeom prst="rect">
            <a:avLst/>
          </a:prstGeom>
          <a:solidFill>
            <a:srgbClr val="F0C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084119" y="0"/>
            <a:ext cx="108000" cy="6858000"/>
          </a:xfrm>
          <a:prstGeom prst="rect">
            <a:avLst/>
          </a:prstGeom>
          <a:solidFill>
            <a:srgbClr val="F0C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Firmamento Technolog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0000" y="720000"/>
            <a:ext cx="3960000" cy="180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20000" y="2880000"/>
            <a:ext cx="10752119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Calibri"/>
              </a:rPr>
              <a:t>Studio di Fattibilita Tecnico-Economica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0000" y="3780000"/>
            <a:ext cx="10752119" cy="7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0" i="1">
                <a:solidFill>
                  <a:srgbClr val="F0C95C"/>
                </a:solidFill>
                <a:latin typeface="Calibri"/>
              </a:rPr>
              <a:t>Piattaforma Aerea HALE / VTOL per le Aree Interne Italiane</a:t>
            </a:r>
          </a:p>
        </p:txBody>
      </p:sp>
      <p:pic>
        <p:nvPicPr>
          <p:cNvPr id="8" name="Picture 7" descr="HAL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00000" y="4500000"/>
            <a:ext cx="5040000" cy="1620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20000" y="6318000"/>
            <a:ext cx="10752119" cy="21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FIRMAMENTO TECHNOLOGIES SOCIETA' COOPERATIVA . Bozza M+11 . Maggio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0000" y="6534000"/>
            <a:ext cx="10752119" cy="144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0" i="1">
                <a:solidFill>
                  <a:srgbClr val="F4F4F6"/>
                </a:solidFill>
                <a:latin typeface="Calibri"/>
              </a:rPr>
              <a:t>Deck per Consiglio di Amministrazione + Sponsor istituzionali (Coopfond, Regione Liguria)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432000"/>
          </a:xfrm>
          <a:prstGeom prst="rect">
            <a:avLst/>
          </a:prstGeom>
          <a:solidFill>
            <a:srgbClr val="0A1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32000"/>
            <a:ext cx="12192119" cy="43200"/>
          </a:xfrm>
          <a:prstGeom prst="rect">
            <a:avLst/>
          </a:prstGeom>
          <a:solidFill>
            <a:srgbClr val="F0C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Firmamento Technolog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000" y="54000"/>
            <a:ext cx="612527" cy="34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340000" y="90000"/>
            <a:ext cx="7200000" cy="30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Agenda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40000" y="90000"/>
            <a:ext cx="1620000" cy="30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 i="1">
                <a:solidFill>
                  <a:srgbClr val="F0C95C"/>
                </a:solidFill>
                <a:latin typeface="Calibri"/>
              </a:rPr>
              <a:t>2 / 14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6001"/>
            <a:ext cx="12192119" cy="18000"/>
          </a:xfrm>
          <a:prstGeom prst="rect">
            <a:avLst/>
          </a:prstGeom>
          <a:solidFill>
            <a:srgbClr val="F0C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0000" y="6642000"/>
            <a:ext cx="11832119" cy="1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 i="1">
                <a:solidFill>
                  <a:srgbClr val="3A3A3A"/>
                </a:solidFill>
                <a:latin typeface="Calibri"/>
              </a:rPr>
              <a:t>Firmamento Technologies Soc. Coop. . P.IVA IT03038500991 . Via Brigata Liguria 105 R, Genova . PEC firmamentotechnologies@pec.it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0000" y="900000"/>
            <a:ext cx="720000" cy="324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800" b="1" i="0">
                <a:solidFill>
                  <a:srgbClr val="F0C95C"/>
                </a:solidFill>
                <a:latin typeface="Calibri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00000" y="900000"/>
            <a:ext cx="9672119" cy="324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 i="0">
                <a:solidFill>
                  <a:srgbClr val="0A1A3D"/>
                </a:solidFill>
                <a:latin typeface="Calibri"/>
              </a:rPr>
              <a:t>Il progetto in pillole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0000" y="1278000"/>
            <a:ext cx="720000" cy="324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800" b="1" i="0">
                <a:solidFill>
                  <a:srgbClr val="F0C95C"/>
                </a:solidFill>
                <a:latin typeface="Calibri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0000" y="1278000"/>
            <a:ext cx="9672119" cy="324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 i="0">
                <a:solidFill>
                  <a:srgbClr val="0A1A3D"/>
                </a:solidFill>
                <a:latin typeface="Calibri"/>
              </a:rPr>
              <a:t>Strategia duale, Percorso 6A e Percorso 6B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1656000"/>
            <a:ext cx="720000" cy="324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800" b="1" i="0">
                <a:solidFill>
                  <a:srgbClr val="F0C95C"/>
                </a:solidFill>
                <a:latin typeface="Calibri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00000" y="1656000"/>
            <a:ext cx="9672119" cy="324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 i="0">
                <a:solidFill>
                  <a:srgbClr val="0A1A3D"/>
                </a:solidFill>
                <a:latin typeface="Calibri"/>
              </a:rPr>
              <a:t>Verdetto consolidato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0000" y="2034000"/>
            <a:ext cx="720000" cy="324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800" b="1" i="0">
                <a:solidFill>
                  <a:srgbClr val="F0C95C"/>
                </a:solidFill>
                <a:latin typeface="Calibri"/>
              </a:rPr>
              <a:t>4.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00000" y="2034000"/>
            <a:ext cx="9672119" cy="324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 i="0">
                <a:solidFill>
                  <a:srgbClr val="0A1A3D"/>
                </a:solidFill>
                <a:latin typeface="Calibri"/>
              </a:rPr>
              <a:t>Caso pilota Pentema, contesto territoriale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0000" y="2412000"/>
            <a:ext cx="720000" cy="324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800" b="1" i="0">
                <a:solidFill>
                  <a:srgbClr val="F0C95C"/>
                </a:solidFill>
                <a:latin typeface="Calibri"/>
              </a:rPr>
              <a:t>5.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00000" y="2412000"/>
            <a:ext cx="9672119" cy="324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 i="0">
                <a:solidFill>
                  <a:srgbClr val="0A1A3D"/>
                </a:solidFill>
                <a:latin typeface="Calibri"/>
              </a:rPr>
              <a:t>Modello di business e value proposition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0000" y="2790000"/>
            <a:ext cx="720000" cy="324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800" b="1" i="0">
                <a:solidFill>
                  <a:srgbClr val="F0C95C"/>
                </a:solidFill>
                <a:latin typeface="Calibri"/>
              </a:rPr>
              <a:t>6.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00000" y="2790000"/>
            <a:ext cx="9672119" cy="324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 i="0">
                <a:solidFill>
                  <a:srgbClr val="0A1A3D"/>
                </a:solidFill>
                <a:latin typeface="Calibri"/>
              </a:rPr>
              <a:t>Quadro economico-finanziario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0000" y="3168000"/>
            <a:ext cx="720000" cy="324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800" b="1" i="0">
                <a:solidFill>
                  <a:srgbClr val="F0C95C"/>
                </a:solidFill>
                <a:latin typeface="Calibri"/>
              </a:rPr>
              <a:t>7.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00000" y="3168000"/>
            <a:ext cx="9672119" cy="324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 i="0">
                <a:solidFill>
                  <a:srgbClr val="0A1A3D"/>
                </a:solidFill>
                <a:latin typeface="Calibri"/>
              </a:rPr>
              <a:t>Mix finanziamento raccomandato Y1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0000" y="3546000"/>
            <a:ext cx="720000" cy="324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800" b="1" i="0">
                <a:solidFill>
                  <a:srgbClr val="F0C95C"/>
                </a:solidFill>
                <a:latin typeface="Calibri"/>
              </a:rPr>
              <a:t>8.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00000" y="3546000"/>
            <a:ext cx="9672119" cy="324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 i="0">
                <a:solidFill>
                  <a:srgbClr val="0A1A3D"/>
                </a:solidFill>
                <a:latin typeface="Calibri"/>
              </a:rPr>
              <a:t>Cronoprogramma e gate decisionali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0000" y="3924000"/>
            <a:ext cx="720000" cy="324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800" b="1" i="0">
                <a:solidFill>
                  <a:srgbClr val="F0C95C"/>
                </a:solidFill>
                <a:latin typeface="Calibri"/>
              </a:rPr>
              <a:t>9.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00000" y="3924000"/>
            <a:ext cx="9672119" cy="324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 i="0">
                <a:solidFill>
                  <a:srgbClr val="0A1A3D"/>
                </a:solidFill>
                <a:latin typeface="Calibri"/>
              </a:rPr>
              <a:t>Risk profile e showstopper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0000" y="4302000"/>
            <a:ext cx="720000" cy="324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800" b="1" i="0">
                <a:solidFill>
                  <a:srgbClr val="F0C95C"/>
                </a:solidFill>
                <a:latin typeface="Calibri"/>
              </a:rPr>
              <a:t>10.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00000" y="4302000"/>
            <a:ext cx="9672119" cy="324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 i="0">
                <a:solidFill>
                  <a:srgbClr val="0A1A3D"/>
                </a:solidFill>
                <a:latin typeface="Calibri"/>
              </a:rPr>
              <a:t>Visione 10 anni e posizionamento sovrano EU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0000" y="4680000"/>
            <a:ext cx="720000" cy="324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800" b="1" i="0">
                <a:solidFill>
                  <a:srgbClr val="F0C95C"/>
                </a:solidFill>
                <a:latin typeface="Calibri"/>
              </a:rPr>
              <a:t>11.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00000" y="4680000"/>
            <a:ext cx="9672119" cy="324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 i="0">
                <a:solidFill>
                  <a:srgbClr val="0A1A3D"/>
                </a:solidFill>
                <a:latin typeface="Calibri"/>
              </a:rPr>
              <a:t>Decisione formale richiesta al CdA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0000" y="5058000"/>
            <a:ext cx="720000" cy="324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800" b="1" i="0">
                <a:solidFill>
                  <a:srgbClr val="F0C95C"/>
                </a:solidFill>
                <a:latin typeface="Calibri"/>
              </a:rPr>
              <a:t>12.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800000" y="5058000"/>
            <a:ext cx="9672119" cy="324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 i="0">
                <a:solidFill>
                  <a:srgbClr val="0A1A3D"/>
                </a:solidFill>
                <a:latin typeface="Calibri"/>
              </a:rPr>
              <a:t>Action items Y0-Y1 prioritari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432000"/>
          </a:xfrm>
          <a:prstGeom prst="rect">
            <a:avLst/>
          </a:prstGeom>
          <a:solidFill>
            <a:srgbClr val="0A1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32000"/>
            <a:ext cx="12192119" cy="43200"/>
          </a:xfrm>
          <a:prstGeom prst="rect">
            <a:avLst/>
          </a:prstGeom>
          <a:solidFill>
            <a:srgbClr val="F0C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Firmamento Technolog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000" y="54000"/>
            <a:ext cx="612527" cy="34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340000" y="90000"/>
            <a:ext cx="7200000" cy="30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Il progetto in 5 punti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40000" y="90000"/>
            <a:ext cx="1620000" cy="30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 i="1">
                <a:solidFill>
                  <a:srgbClr val="F0C95C"/>
                </a:solidFill>
                <a:latin typeface="Calibri"/>
              </a:rPr>
              <a:t>3 / 14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6001"/>
            <a:ext cx="12192119" cy="18000"/>
          </a:xfrm>
          <a:prstGeom prst="rect">
            <a:avLst/>
          </a:prstGeom>
          <a:solidFill>
            <a:srgbClr val="F0C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0000" y="6642000"/>
            <a:ext cx="11832119" cy="1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 i="1">
                <a:solidFill>
                  <a:srgbClr val="3A3A3A"/>
                </a:solidFill>
                <a:latin typeface="Calibri"/>
              </a:rPr>
              <a:t>Firmamento Technologies Soc. Coop. . P.IVA IT03038500991 . Via Brigata Liguria 105 R, Genova . PEC firmamentotechnologies@pec.it</a:t>
            </a:r>
          </a:p>
        </p:txBody>
      </p:sp>
      <p:sp>
        <p:nvSpPr>
          <p:cNvPr id="9" name="Rectangle 8"/>
          <p:cNvSpPr/>
          <p:nvPr/>
        </p:nvSpPr>
        <p:spPr>
          <a:xfrm>
            <a:off x="720000" y="1007999"/>
            <a:ext cx="1800000" cy="720000"/>
          </a:xfrm>
          <a:prstGeom prst="rect">
            <a:avLst/>
          </a:prstGeom>
          <a:solidFill>
            <a:srgbClr val="F0C95C"/>
          </a:solidFill>
          <a:ln w="9525">
            <a:solidFill>
              <a:srgbClr val="0A1A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0000" y="1007999"/>
            <a:ext cx="1800000" cy="7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i="0">
                <a:solidFill>
                  <a:srgbClr val="0A1A3D"/>
                </a:solidFill>
                <a:latin typeface="Calibri"/>
              </a:rPr>
              <a:t>Cosa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00000" y="1007999"/>
            <a:ext cx="8772119" cy="7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0A1A3D"/>
                </a:solidFill>
                <a:latin typeface="Calibri"/>
              </a:rPr>
              <a:t>Piattaforma aerea unmanned per servizi territoriali alle Aree Interne italiane, operata come operatore di servizi ricorrenti, non come venditore di velivoli.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0000" y="1871999"/>
            <a:ext cx="1800000" cy="720000"/>
          </a:xfrm>
          <a:prstGeom prst="rect">
            <a:avLst/>
          </a:prstGeom>
          <a:solidFill>
            <a:srgbClr val="F0C95C"/>
          </a:solidFill>
          <a:ln w="9525">
            <a:solidFill>
              <a:srgbClr val="0A1A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0000" y="1871999"/>
            <a:ext cx="1800000" cy="7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i="0">
                <a:solidFill>
                  <a:srgbClr val="0A1A3D"/>
                </a:solidFill>
                <a:latin typeface="Calibri"/>
              </a:rPr>
              <a:t>Dove pilota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00000" y="1871999"/>
            <a:ext cx="8772119" cy="7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0A1A3D"/>
                </a:solidFill>
                <a:latin typeface="Calibri"/>
              </a:rPr>
              <a:t>Pentema, frazione del Comune di Torriglia (Genova), 14 abitanti ISTAT, area SNAI Valli Antola-Tigullio.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20000" y="2735999"/>
            <a:ext cx="1800000" cy="720000"/>
          </a:xfrm>
          <a:prstGeom prst="rect">
            <a:avLst/>
          </a:prstGeom>
          <a:solidFill>
            <a:srgbClr val="F0C95C"/>
          </a:solidFill>
          <a:ln w="9525">
            <a:solidFill>
              <a:srgbClr val="0A1A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0000" y="2735999"/>
            <a:ext cx="1800000" cy="7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i="0">
                <a:solidFill>
                  <a:srgbClr val="0A1A3D"/>
                </a:solidFill>
                <a:latin typeface="Calibri"/>
              </a:rPr>
              <a:t>Strategia duale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00000" y="2735999"/>
            <a:ext cx="8772119" cy="7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0A1A3D"/>
                </a:solidFill>
                <a:latin typeface="Calibri"/>
              </a:rPr>
              <a:t>Percorso 6A VTOL pilota (0-12 mesi, low-risk) + Percorso 6B HALE stratosferico R&amp;D Phase B (24-48+ mesi, high-risk).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20000" y="3599999"/>
            <a:ext cx="1800000" cy="720000"/>
          </a:xfrm>
          <a:prstGeom prst="rect">
            <a:avLst/>
          </a:prstGeom>
          <a:solidFill>
            <a:srgbClr val="F0C95C"/>
          </a:solidFill>
          <a:ln w="9525">
            <a:solidFill>
              <a:srgbClr val="0A1A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0000" y="3599999"/>
            <a:ext cx="1800000" cy="7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i="0">
                <a:solidFill>
                  <a:srgbClr val="0A1A3D"/>
                </a:solidFill>
                <a:latin typeface="Calibri"/>
              </a:rPr>
              <a:t>Use case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00000" y="3599999"/>
            <a:ext cx="8772119" cy="7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0A1A3D"/>
                </a:solidFill>
                <a:latin typeface="Calibri"/>
              </a:rPr>
              <a:t>Monitoraggio frane, antincendio boschivo, connettivita di emergenza, mapping infrastrutture, agricoltura cooperative.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0000" y="4463999"/>
            <a:ext cx="1800000" cy="720000"/>
          </a:xfrm>
          <a:prstGeom prst="rect">
            <a:avLst/>
          </a:prstGeom>
          <a:solidFill>
            <a:srgbClr val="F0C95C"/>
          </a:solidFill>
          <a:ln w="9525">
            <a:solidFill>
              <a:srgbClr val="0A1A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0000" y="4463999"/>
            <a:ext cx="1800000" cy="7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i="0">
                <a:solidFill>
                  <a:srgbClr val="0A1A3D"/>
                </a:solidFill>
                <a:latin typeface="Calibri"/>
              </a:rPr>
              <a:t>Visione 10 anni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0000" y="4463999"/>
            <a:ext cx="8772119" cy="7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0A1A3D"/>
                </a:solidFill>
                <a:latin typeface="Calibri"/>
              </a:rPr>
              <a:t>Nodo italiano fondatore di una futura infrastruttura sovrana europea HAPS, complementare a IRIS².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432000"/>
          </a:xfrm>
          <a:prstGeom prst="rect">
            <a:avLst/>
          </a:prstGeom>
          <a:solidFill>
            <a:srgbClr val="0A1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32000"/>
            <a:ext cx="12192119" cy="43200"/>
          </a:xfrm>
          <a:prstGeom prst="rect">
            <a:avLst/>
          </a:prstGeom>
          <a:solidFill>
            <a:srgbClr val="F0C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Firmamento Technolog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000" y="54000"/>
            <a:ext cx="612527" cy="34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340000" y="90000"/>
            <a:ext cx="7200000" cy="30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Strategia duale, Percorso 6A + 6B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40000" y="90000"/>
            <a:ext cx="1620000" cy="30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 i="1">
                <a:solidFill>
                  <a:srgbClr val="F0C95C"/>
                </a:solidFill>
                <a:latin typeface="Calibri"/>
              </a:rPr>
              <a:t>4 / 14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6001"/>
            <a:ext cx="12192119" cy="18000"/>
          </a:xfrm>
          <a:prstGeom prst="rect">
            <a:avLst/>
          </a:prstGeom>
          <a:solidFill>
            <a:srgbClr val="F0C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0000" y="6642000"/>
            <a:ext cx="11832119" cy="1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 i="1">
                <a:solidFill>
                  <a:srgbClr val="3A3A3A"/>
                </a:solidFill>
                <a:latin typeface="Calibri"/>
              </a:rPr>
              <a:t>Firmamento Technologies Soc. Coop. . P.IVA IT03038500991 . Via Brigata Liguria 105 R, Genova . PEC firmamentotechnologies@pec.it</a:t>
            </a:r>
          </a:p>
        </p:txBody>
      </p:sp>
      <p:sp>
        <p:nvSpPr>
          <p:cNvPr id="9" name="Rectangle 8"/>
          <p:cNvSpPr/>
          <p:nvPr/>
        </p:nvSpPr>
        <p:spPr>
          <a:xfrm>
            <a:off x="540000" y="900000"/>
            <a:ext cx="5400000" cy="4680000"/>
          </a:xfrm>
          <a:prstGeom prst="rect">
            <a:avLst/>
          </a:prstGeom>
          <a:solidFill>
            <a:srgbClr val="F4F4F6"/>
          </a:solidFill>
          <a:ln w="9525">
            <a:solidFill>
              <a:srgbClr val="0A1A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0000" y="900000"/>
            <a:ext cx="5400000" cy="432000"/>
          </a:xfrm>
          <a:prstGeom prst="rect">
            <a:avLst/>
          </a:prstGeom>
          <a:solidFill>
            <a:srgbClr val="0A1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0000" y="900000"/>
            <a:ext cx="5400000" cy="432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Percorso 6A, VTOL Pilota Pentema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0000" y="1512000"/>
            <a:ext cx="1800000" cy="251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0A1A3D"/>
                </a:solidFill>
                <a:latin typeface="Calibri"/>
              </a:rPr>
              <a:t>Tecnologia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20000" y="1512000"/>
            <a:ext cx="3240000" cy="251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0A1A3D"/>
                </a:solidFill>
                <a:latin typeface="Calibri"/>
              </a:rPr>
              <a:t>VTOL ibrido TRL 8-9 (JOUAV CW-30E + Plan B Tekever AR3)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0000" y="1962000"/>
            <a:ext cx="1800000" cy="251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0A1A3D"/>
                </a:solidFill>
                <a:latin typeface="Calibri"/>
              </a:rPr>
              <a:t>Orizzonte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20000" y="1962000"/>
            <a:ext cx="3240000" cy="251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0A1A3D"/>
                </a:solidFill>
                <a:latin typeface="Calibri"/>
              </a:rPr>
              <a:t>0-12 mesi (M+0 → M+12)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0000" y="2412000"/>
            <a:ext cx="1800000" cy="251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0A1A3D"/>
                </a:solidFill>
                <a:latin typeface="Calibri"/>
              </a:rPr>
              <a:t>Budget CapEx Y1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20000" y="2412000"/>
            <a:ext cx="3240000" cy="251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0A1A3D"/>
                </a:solidFill>
                <a:latin typeface="Calibri"/>
              </a:rPr>
              <a:t>€700k - €2M (IVA + contingency 15% incluse)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0000" y="2862000"/>
            <a:ext cx="1800000" cy="251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0A1A3D"/>
                </a:solidFill>
                <a:latin typeface="Calibri"/>
              </a:rPr>
              <a:t>OpEx Y2 RECONCILED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20000" y="2862000"/>
            <a:ext cx="3240000" cy="251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0A1A3D"/>
                </a:solidFill>
                <a:latin typeface="Calibri"/>
              </a:rPr>
              <a:t>€1.18M/anno centrale (con +3 FTE regulatory team)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0000" y="3312000"/>
            <a:ext cx="1800000" cy="251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0A1A3D"/>
                </a:solidFill>
                <a:latin typeface="Calibri"/>
              </a:rPr>
              <a:t>Revenue Y1 RECALIBRATED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0000" y="3312000"/>
            <a:ext cx="3240000" cy="251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0A1A3D"/>
                </a:solidFill>
                <a:latin typeface="Calibri"/>
              </a:rPr>
              <a:t>€260k centrale (range €220-300k, min €200k SyR-Cost-003)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0000" y="3762000"/>
            <a:ext cx="1800000" cy="251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0A1A3D"/>
                </a:solidFill>
                <a:latin typeface="Calibri"/>
              </a:rPr>
              <a:t>Casi d'uso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0000" y="3762000"/>
            <a:ext cx="3240000" cy="251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0A1A3D"/>
                </a:solidFill>
                <a:latin typeface="Calibri"/>
              </a:rPr>
              <a:t>Frane, antincendio, connettivita emergenza, mapping, cooperative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0000" y="4212000"/>
            <a:ext cx="1800000" cy="251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0A1A3D"/>
                </a:solidFill>
                <a:latin typeface="Calibri"/>
              </a:rPr>
              <a:t>Verdetto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20000" y="4212000"/>
            <a:ext cx="3240000" cy="251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0A1A3D"/>
                </a:solidFill>
                <a:latin typeface="Calibri"/>
              </a:rPr>
              <a:t>HOLD CON PIANO REGOLATORIO RAFFORZATO (P 45-60%) / GO COND. (P 5-15%)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00000" y="900000"/>
            <a:ext cx="5400000" cy="4680000"/>
          </a:xfrm>
          <a:prstGeom prst="rect">
            <a:avLst/>
          </a:prstGeom>
          <a:solidFill>
            <a:srgbClr val="F4F4F6"/>
          </a:solidFill>
          <a:ln w="9525">
            <a:solidFill>
              <a:srgbClr val="0A1A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300000" y="900000"/>
            <a:ext cx="5400000" cy="432000"/>
          </a:xfrm>
          <a:prstGeom prst="rect">
            <a:avLst/>
          </a:prstGeom>
          <a:solidFill>
            <a:srgbClr val="0A1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0000" y="900000"/>
            <a:ext cx="5400000" cy="432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Percorso 6B, HALE Stratosferico R&amp;D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80000" y="1512000"/>
            <a:ext cx="1800000" cy="251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0A1A3D"/>
                </a:solidFill>
                <a:latin typeface="Calibri"/>
              </a:rPr>
              <a:t>Tecnologia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80000" y="1512000"/>
            <a:ext cx="3240000" cy="251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0A1A3D"/>
                </a:solidFill>
                <a:latin typeface="Calibri"/>
              </a:rPr>
              <a:t>HALE solare, apertura 25-30 m, MTOW 80-150 kg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80000" y="1962000"/>
            <a:ext cx="1800000" cy="251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0A1A3D"/>
                </a:solidFill>
                <a:latin typeface="Calibri"/>
              </a:rPr>
              <a:t>Quota operativa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80000" y="1962000"/>
            <a:ext cx="3240000" cy="251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0A1A3D"/>
                </a:solidFill>
                <a:latin typeface="Calibri"/>
              </a:rPr>
              <a:t>18-21 km (FL590-690)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80000" y="2412000"/>
            <a:ext cx="1800000" cy="251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0A1A3D"/>
                </a:solidFill>
                <a:latin typeface="Calibri"/>
              </a:rPr>
              <a:t>Orizzonte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80000" y="2412000"/>
            <a:ext cx="3240000" cy="251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0A1A3D"/>
                </a:solidFill>
                <a:latin typeface="Calibri"/>
              </a:rPr>
              <a:t>24-48+ mesi (Phase B R&amp;D)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80000" y="2862000"/>
            <a:ext cx="1800000" cy="251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0A1A3D"/>
                </a:solidFill>
                <a:latin typeface="Calibri"/>
              </a:rPr>
              <a:t>Budget Phase B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80000" y="2862000"/>
            <a:ext cx="3240000" cy="251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0A1A3D"/>
                </a:solidFill>
                <a:latin typeface="Calibri"/>
              </a:rPr>
              <a:t>€5.5-13.5M (mix 50-75% grant pubblico)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80000" y="3312000"/>
            <a:ext cx="1800000" cy="251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0A1A3D"/>
                </a:solidFill>
                <a:latin typeface="Calibri"/>
              </a:rPr>
              <a:t>Pivot strutturale M+3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80000" y="3312000"/>
            <a:ext cx="3240000" cy="251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0A1A3D"/>
                </a:solidFill>
                <a:latin typeface="Calibri"/>
              </a:rPr>
              <a:t>Operatore di servizi su piattaforme prime contractor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80000" y="3762000"/>
            <a:ext cx="1800000" cy="251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0A1A3D"/>
                </a:solidFill>
                <a:latin typeface="Calibri"/>
              </a:rPr>
              <a:t>Showstopper aperti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80000" y="3762000"/>
            <a:ext cx="3240000" cy="251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0A1A3D"/>
                </a:solidFill>
                <a:latin typeface="Calibri"/>
              </a:rPr>
              <a:t>5 RSK rossi (energy, aeroelast., HAPS framework, funding, TC)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80000" y="4212000"/>
            <a:ext cx="1800000" cy="251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0A1A3D"/>
                </a:solidFill>
                <a:latin typeface="Calibri"/>
              </a:rPr>
              <a:t>Verdetto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80000" y="4212000"/>
            <a:ext cx="3240000" cy="251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0A1A3D"/>
                </a:solidFill>
                <a:latin typeface="Calibri"/>
              </a:rPr>
              <a:t>HOLD CON CRITERI USCITA STRINGENTI + Pivot Strutturale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432000"/>
          </a:xfrm>
          <a:prstGeom prst="rect">
            <a:avLst/>
          </a:prstGeom>
          <a:solidFill>
            <a:srgbClr val="0A1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32000"/>
            <a:ext cx="12192119" cy="43200"/>
          </a:xfrm>
          <a:prstGeom prst="rect">
            <a:avLst/>
          </a:prstGeom>
          <a:solidFill>
            <a:srgbClr val="F0C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Firmamento Technolog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000" y="54000"/>
            <a:ext cx="612527" cy="34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340000" y="90000"/>
            <a:ext cx="7200000" cy="30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Verdetto consolidato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40000" y="90000"/>
            <a:ext cx="1620000" cy="30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 i="1">
                <a:solidFill>
                  <a:srgbClr val="F0C95C"/>
                </a:solidFill>
                <a:latin typeface="Calibri"/>
              </a:rPr>
              <a:t>5 / 14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6001"/>
            <a:ext cx="12192119" cy="18000"/>
          </a:xfrm>
          <a:prstGeom prst="rect">
            <a:avLst/>
          </a:prstGeom>
          <a:solidFill>
            <a:srgbClr val="F0C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0000" y="6642000"/>
            <a:ext cx="11832119" cy="1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 i="1">
                <a:solidFill>
                  <a:srgbClr val="3A3A3A"/>
                </a:solidFill>
                <a:latin typeface="Calibri"/>
              </a:rPr>
              <a:t>Firmamento Technologies Soc. Coop. . P.IVA IT03038500991 . Via Brigata Liguria 105 R, Genova . PEC firmamentotechnologies@pec.it</a:t>
            </a:r>
          </a:p>
        </p:txBody>
      </p:sp>
      <p:sp>
        <p:nvSpPr>
          <p:cNvPr id="9" name="Rectangle 8"/>
          <p:cNvSpPr/>
          <p:nvPr/>
        </p:nvSpPr>
        <p:spPr>
          <a:xfrm>
            <a:off x="540000" y="936000"/>
            <a:ext cx="1980000" cy="324000"/>
          </a:xfrm>
          <a:prstGeom prst="rect">
            <a:avLst/>
          </a:prstGeom>
          <a:solidFill>
            <a:srgbClr val="0A1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0000" y="936000"/>
            <a:ext cx="1980000" cy="324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Percorso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20000" y="936000"/>
            <a:ext cx="3240000" cy="324000"/>
          </a:xfrm>
          <a:prstGeom prst="rect">
            <a:avLst/>
          </a:prstGeom>
          <a:solidFill>
            <a:srgbClr val="0A1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20000" y="936000"/>
            <a:ext cx="3240000" cy="324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Verdetto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60000" y="936000"/>
            <a:ext cx="2160000" cy="324000"/>
          </a:xfrm>
          <a:prstGeom prst="rect">
            <a:avLst/>
          </a:prstGeom>
          <a:solidFill>
            <a:srgbClr val="0A1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60000" y="936000"/>
            <a:ext cx="2160000" cy="324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Probabilita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20000" y="936000"/>
            <a:ext cx="3744000" cy="324000"/>
          </a:xfrm>
          <a:prstGeom prst="rect">
            <a:avLst/>
          </a:prstGeom>
          <a:solidFill>
            <a:srgbClr val="0A1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20000" y="936000"/>
            <a:ext cx="3744000" cy="324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Razionale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0000" y="1260000"/>
            <a:ext cx="1980000" cy="12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A1A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0000" y="1260000"/>
            <a:ext cx="1980000" cy="12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 i="0">
                <a:solidFill>
                  <a:srgbClr val="0A1A3D"/>
                </a:solidFill>
                <a:latin typeface="Calibri"/>
              </a:rPr>
              <a:t>6A VTOL pilota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520000" y="1260000"/>
            <a:ext cx="3240000" cy="12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A1A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0000" y="1260000"/>
            <a:ext cx="3240000" cy="12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ED9A00"/>
                </a:solidFill>
                <a:latin typeface="Calibri"/>
              </a:rPr>
              <a:t>HOLD CON PIANO RAFFORZATO (base)
GO CONDIZIONATO (ottimistico)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760000" y="1260000"/>
            <a:ext cx="2160000" cy="12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A1A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000" y="1260000"/>
            <a:ext cx="2160000" cy="12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3A3A3A"/>
                </a:solidFill>
                <a:latin typeface="Calibri"/>
              </a:rPr>
              <a:t>45-60% Hold
5-15% Go pieno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920000" y="1260000"/>
            <a:ext cx="3744000" cy="12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A1A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920000" y="1260000"/>
            <a:ext cx="3744000" cy="12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3A3A3A"/>
                </a:solidFill>
                <a:latin typeface="Calibri"/>
              </a:rPr>
              <a:t>Solido tecnicamente, debole su engagement esterno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0000" y="2520000"/>
            <a:ext cx="1980000" cy="1260000"/>
          </a:xfrm>
          <a:prstGeom prst="rect">
            <a:avLst/>
          </a:prstGeom>
          <a:solidFill>
            <a:srgbClr val="F4F4F6"/>
          </a:solidFill>
          <a:ln w="9525">
            <a:solidFill>
              <a:srgbClr val="0A1A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0000" y="2520000"/>
            <a:ext cx="1980000" cy="12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 i="0">
                <a:solidFill>
                  <a:srgbClr val="0A1A3D"/>
                </a:solidFill>
                <a:latin typeface="Calibri"/>
              </a:rPr>
              <a:t>6B HALE R&amp;D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520000" y="2520000"/>
            <a:ext cx="3240000" cy="1260000"/>
          </a:xfrm>
          <a:prstGeom prst="rect">
            <a:avLst/>
          </a:prstGeom>
          <a:solidFill>
            <a:srgbClr val="F4F4F6"/>
          </a:solidFill>
          <a:ln w="9525">
            <a:solidFill>
              <a:srgbClr val="0A1A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520000" y="2520000"/>
            <a:ext cx="3240000" cy="12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C03333"/>
                </a:solidFill>
                <a:latin typeface="Calibri"/>
              </a:rPr>
              <a:t>HOLD CON CRITERI USCITA STRINGENTI
+ Pivot strutturale prime contractor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760000" y="2520000"/>
            <a:ext cx="2160000" cy="1260000"/>
          </a:xfrm>
          <a:prstGeom prst="rect">
            <a:avLst/>
          </a:prstGeom>
          <a:solidFill>
            <a:srgbClr val="F4F4F6"/>
          </a:solidFill>
          <a:ln w="9525">
            <a:solidFill>
              <a:srgbClr val="0A1A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60000" y="2520000"/>
            <a:ext cx="2160000" cy="12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3A3A3A"/>
                </a:solidFill>
                <a:latin typeface="Calibri"/>
              </a:rPr>
              <a:t>Hold permanente
fino gate G5 M+24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920000" y="2520000"/>
            <a:ext cx="3744000" cy="1260000"/>
          </a:xfrm>
          <a:prstGeom prst="rect">
            <a:avLst/>
          </a:prstGeom>
          <a:solidFill>
            <a:srgbClr val="F4F4F6"/>
          </a:solidFill>
          <a:ln w="9525">
            <a:solidFill>
              <a:srgbClr val="0A1A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920000" y="2520000"/>
            <a:ext cx="3744000" cy="12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3A3A3A"/>
                </a:solidFill>
                <a:latin typeface="Calibri"/>
              </a:rPr>
              <a:t>Base rate 0% HALE solari commerciali in 22 anni; capital intensity $50M-1B benchmark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0000" y="5220000"/>
            <a:ext cx="11124000" cy="900000"/>
          </a:xfrm>
          <a:prstGeom prst="rect">
            <a:avLst/>
          </a:prstGeom>
          <a:solidFill>
            <a:srgbClr val="FDF8E8"/>
          </a:solidFill>
          <a:ln w="9525">
            <a:solidFill>
              <a:srgbClr val="F0C9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20000" y="5256000"/>
            <a:ext cx="10800000" cy="827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1">
                <a:solidFill>
                  <a:srgbClr val="0A1A3D"/>
                </a:solidFill>
                <a:latin typeface="Calibri"/>
              </a:rPr>
              <a:t>CAVEAT PROBABILISTICO ONESTO (post audit M+3): le 5 hard conditions C1-C5 del Percorso 6A sono in AND logico. P(AND tutte soddisfatte) realistica al gate G3 e 5-15% per Go pieno, 45-60% per Hold con piano e re-review M+13-16. Scenario base atteso = HOLD CON PIANO RAFFORZATO.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432000"/>
          </a:xfrm>
          <a:prstGeom prst="rect">
            <a:avLst/>
          </a:prstGeom>
          <a:solidFill>
            <a:srgbClr val="0A1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32000"/>
            <a:ext cx="12192119" cy="43200"/>
          </a:xfrm>
          <a:prstGeom prst="rect">
            <a:avLst/>
          </a:prstGeom>
          <a:solidFill>
            <a:srgbClr val="F0C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Firmamento Technolog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000" y="54000"/>
            <a:ext cx="612527" cy="34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340000" y="90000"/>
            <a:ext cx="7200000" cy="30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Caso pilota Pentema, contesto territoriale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40000" y="90000"/>
            <a:ext cx="1620000" cy="30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 i="1">
                <a:solidFill>
                  <a:srgbClr val="F0C95C"/>
                </a:solidFill>
                <a:latin typeface="Calibri"/>
              </a:rPr>
              <a:t>6 / 14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6001"/>
            <a:ext cx="12192119" cy="18000"/>
          </a:xfrm>
          <a:prstGeom prst="rect">
            <a:avLst/>
          </a:prstGeom>
          <a:solidFill>
            <a:srgbClr val="F0C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0000" y="6642000"/>
            <a:ext cx="11832119" cy="1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 i="1">
                <a:solidFill>
                  <a:srgbClr val="3A3A3A"/>
                </a:solidFill>
                <a:latin typeface="Calibri"/>
              </a:rPr>
              <a:t>Firmamento Technologies Soc. Coop. . P.IVA IT03038500991 . Via Brigata Liguria 105 R, Genova . PEC firmamentotechnologies@pec.it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000" y="900000"/>
            <a:ext cx="3960000" cy="30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0A1A3D"/>
                </a:solidFill>
                <a:latin typeface="Calibri"/>
              </a:rPr>
              <a:t>Localita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60000" y="900000"/>
            <a:ext cx="6480000" cy="30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3A3A3A"/>
                </a:solidFill>
                <a:latin typeface="Calibri"/>
              </a:rPr>
              <a:t>Pentema, frazione del Comune di Torriglia (GE)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0000" y="1296000"/>
            <a:ext cx="3960000" cy="30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0A1A3D"/>
                </a:solidFill>
                <a:latin typeface="Calibri"/>
              </a:rPr>
              <a:t>Coordinate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60000" y="1296000"/>
            <a:ext cx="6480000" cy="30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3A3A3A"/>
                </a:solidFill>
                <a:latin typeface="Calibri"/>
              </a:rPr>
              <a:t>Circa 44.5°N 9.2°E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0000" y="1692000"/>
            <a:ext cx="3960000" cy="30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0A1A3D"/>
                </a:solidFill>
                <a:latin typeface="Calibri"/>
              </a:rPr>
              <a:t>Altitudine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0000" y="1692000"/>
            <a:ext cx="6480000" cy="30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3A3A3A"/>
                </a:solidFill>
                <a:latin typeface="Calibri"/>
              </a:rPr>
              <a:t>1100-1300 m s.l.m.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0000" y="2088000"/>
            <a:ext cx="3960000" cy="30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0A1A3D"/>
                </a:solidFill>
                <a:latin typeface="Calibri"/>
              </a:rPr>
              <a:t>Popolazione ISTAT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60000" y="2088000"/>
            <a:ext cx="6480000" cy="30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3A3A3A"/>
                </a:solidFill>
                <a:latin typeface="Calibri"/>
              </a:rPr>
              <a:t>14 residenti (7 M, 7 F), 11 famiglie, 100 edifici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0000" y="2484000"/>
            <a:ext cx="3960000" cy="30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0A1A3D"/>
                </a:solidFill>
                <a:latin typeface="Calibri"/>
              </a:rPr>
              <a:t>Distanza centro abitato Torriglia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60000" y="2484000"/>
            <a:ext cx="6480000" cy="30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3A3A3A"/>
                </a:solidFill>
                <a:latin typeface="Calibri"/>
              </a:rPr>
              <a:t>3.27 km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0000" y="2880000"/>
            <a:ext cx="3960000" cy="30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0A1A3D"/>
                </a:solidFill>
                <a:latin typeface="Calibri"/>
              </a:rPr>
              <a:t>Area SNAI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60000" y="2880000"/>
            <a:ext cx="6480000" cy="30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3A3A3A"/>
                </a:solidFill>
                <a:latin typeface="Calibri"/>
              </a:rPr>
              <a:t>Valli Antola-Tigullio (ciclo 2021-2027)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0000" y="3276000"/>
            <a:ext cx="3960000" cy="30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0A1A3D"/>
                </a:solidFill>
                <a:latin typeface="Calibri"/>
              </a:rPr>
              <a:t>Vincolo ambientale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60000" y="3276000"/>
            <a:ext cx="6480000" cy="30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3A3A3A"/>
                </a:solidFill>
                <a:latin typeface="Calibri"/>
              </a:rPr>
              <a:t>Parco Naturale Regionale dell'Antola (L.R. Liguria 12/1995)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0000" y="3672000"/>
            <a:ext cx="3960000" cy="30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0A1A3D"/>
                </a:solidFill>
                <a:latin typeface="Calibri"/>
              </a:rPr>
              <a:t>Rete Natura 2000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60000" y="3672000"/>
            <a:ext cx="6480000" cy="30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3A3A3A"/>
                </a:solidFill>
                <a:latin typeface="Calibri"/>
              </a:rPr>
              <a:t>SIC/ZSC/ZPS IT1331402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0000" y="4068000"/>
            <a:ext cx="3960000" cy="30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0A1A3D"/>
                </a:solidFill>
                <a:latin typeface="Calibri"/>
              </a:rPr>
              <a:t>Specie target Allegato 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60000" y="4068000"/>
            <a:ext cx="6480000" cy="30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3A3A3A"/>
                </a:solidFill>
                <a:latin typeface="Calibri"/>
              </a:rPr>
              <a:t>Aquila chrysaetos, Bubo bubo (avifauna nidificante)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0000" y="4464000"/>
            <a:ext cx="3960000" cy="30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0A1A3D"/>
                </a:solidFill>
                <a:latin typeface="Calibri"/>
              </a:rPr>
              <a:t>Rete utenti pilota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60000" y="4464000"/>
            <a:ext cx="6480000" cy="30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3A3A3A"/>
                </a:solidFill>
                <a:latin typeface="Calibri"/>
              </a:rPr>
              <a:t>10 cooperative Legacoop, capofila Fabrica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432000"/>
          </a:xfrm>
          <a:prstGeom prst="rect">
            <a:avLst/>
          </a:prstGeom>
          <a:solidFill>
            <a:srgbClr val="0A1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32000"/>
            <a:ext cx="12192119" cy="43200"/>
          </a:xfrm>
          <a:prstGeom prst="rect">
            <a:avLst/>
          </a:prstGeom>
          <a:solidFill>
            <a:srgbClr val="F0C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Firmamento Technolog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000" y="54000"/>
            <a:ext cx="612527" cy="34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340000" y="90000"/>
            <a:ext cx="7200000" cy="30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Modello di business, service-only su cooperative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40000" y="90000"/>
            <a:ext cx="1620000" cy="30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 i="1">
                <a:solidFill>
                  <a:srgbClr val="F0C95C"/>
                </a:solidFill>
                <a:latin typeface="Calibri"/>
              </a:rPr>
              <a:t>7 / 14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6001"/>
            <a:ext cx="12192119" cy="18000"/>
          </a:xfrm>
          <a:prstGeom prst="rect">
            <a:avLst/>
          </a:prstGeom>
          <a:solidFill>
            <a:srgbClr val="F0C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0000" y="6642000"/>
            <a:ext cx="11832119" cy="1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 i="1">
                <a:solidFill>
                  <a:srgbClr val="3A3A3A"/>
                </a:solidFill>
                <a:latin typeface="Calibri"/>
              </a:rPr>
              <a:t>Firmamento Technologies Soc. Coop. . P.IVA IT03038500991 . Via Brigata Liguria 105 R, Genova . PEC firmamentotechnologies@pec.it</a:t>
            </a:r>
          </a:p>
        </p:txBody>
      </p:sp>
      <p:sp>
        <p:nvSpPr>
          <p:cNvPr id="9" name="Rectangle 8"/>
          <p:cNvSpPr/>
          <p:nvPr/>
        </p:nvSpPr>
        <p:spPr>
          <a:xfrm>
            <a:off x="540000" y="900000"/>
            <a:ext cx="5400000" cy="2340000"/>
          </a:xfrm>
          <a:prstGeom prst="rect">
            <a:avLst/>
          </a:prstGeom>
          <a:solidFill>
            <a:srgbClr val="F4F4F6"/>
          </a:solidFill>
          <a:ln w="9525">
            <a:solidFill>
              <a:srgbClr val="0A1A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0000" y="900000"/>
            <a:ext cx="5400000" cy="432000"/>
          </a:xfrm>
          <a:prstGeom prst="rect">
            <a:avLst/>
          </a:prstGeom>
          <a:solidFill>
            <a:srgbClr val="0A1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0000" y="900000"/>
            <a:ext cx="5400000" cy="432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Service-only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4000" y="1403999"/>
            <a:ext cx="5112000" cy="176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0A1A3D"/>
                </a:solidFill>
                <a:latin typeface="Calibri"/>
              </a:rPr>
              <a:t>Nessuna vendita di velivoli. Erogazione di servizi ricorrenti: monitoraggio EO, connettivita emergenza, analytics, ore-volo + analytics, outcome-based, DaaS.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0000" y="900000"/>
            <a:ext cx="5400000" cy="2340000"/>
          </a:xfrm>
          <a:prstGeom prst="rect">
            <a:avLst/>
          </a:prstGeom>
          <a:solidFill>
            <a:srgbClr val="F4F4F6"/>
          </a:solidFill>
          <a:ln w="9525">
            <a:solidFill>
              <a:srgbClr val="0A1A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0000" y="900000"/>
            <a:ext cx="5400000" cy="432000"/>
          </a:xfrm>
          <a:prstGeom prst="rect">
            <a:avLst/>
          </a:prstGeom>
          <a:solidFill>
            <a:srgbClr val="0A1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0000" y="900000"/>
            <a:ext cx="5400000" cy="432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4 pilastri vantaggio competitivo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4000" y="1403999"/>
            <a:ext cx="5112000" cy="176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0A1A3D"/>
                </a:solidFill>
                <a:latin typeface="Calibri"/>
              </a:rPr>
              <a:t>(i) specializzazione geografica Aree Interne, (ii) modello cooperativo Legacoop, (iii) sostenibilita ESG (propulsione solare/elettrica + fibra lino), (iv) approccio incrementale VTOL → HALE.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0000" y="3420000"/>
            <a:ext cx="5400000" cy="2340000"/>
          </a:xfrm>
          <a:prstGeom prst="rect">
            <a:avLst/>
          </a:prstGeom>
          <a:solidFill>
            <a:srgbClr val="F4F4F6"/>
          </a:solidFill>
          <a:ln w="9525">
            <a:solidFill>
              <a:srgbClr val="0A1A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0000" y="3420000"/>
            <a:ext cx="5400000" cy="432000"/>
          </a:xfrm>
          <a:prstGeom prst="rect">
            <a:avLst/>
          </a:prstGeom>
          <a:solidFill>
            <a:srgbClr val="0A1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0000" y="3420000"/>
            <a:ext cx="5400000" cy="432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Canali distributivi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4000" y="3923999"/>
            <a:ext cx="5112000" cy="176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0A1A3D"/>
                </a:solidFill>
                <a:latin typeface="Calibri"/>
              </a:rPr>
              <a:t>B2G regionale (anchor Regione Liguria) - B2G locale (Protezione Civile, ARPA, Enti Parco) - B2B cooperative (rete Legacoop scaled).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000" y="3420000"/>
            <a:ext cx="5400000" cy="2340000"/>
          </a:xfrm>
          <a:prstGeom prst="rect">
            <a:avLst/>
          </a:prstGeom>
          <a:solidFill>
            <a:srgbClr val="F4F4F6"/>
          </a:solidFill>
          <a:ln w="9525">
            <a:solidFill>
              <a:srgbClr val="0A1A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00000" y="3420000"/>
            <a:ext cx="5400000" cy="432000"/>
          </a:xfrm>
          <a:prstGeom prst="rect">
            <a:avLst/>
          </a:prstGeom>
          <a:solidFill>
            <a:srgbClr val="0A1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0000" y="3420000"/>
            <a:ext cx="5400000" cy="432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Pricing PA RECALIBRATED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4000" y="3923999"/>
            <a:ext cx="5112000" cy="176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0A1A3D"/>
                </a:solidFill>
                <a:latin typeface="Calibri"/>
              </a:rPr>
              <a:t>Post audit Cluster D (Planetek, e-GEOS, NHazca): €60-90k/anno base + €30-60k premium persistence/sovranita. Falsificato il baseline originale €150k/anno → €355-405k revenue Y1.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432000"/>
          </a:xfrm>
          <a:prstGeom prst="rect">
            <a:avLst/>
          </a:prstGeom>
          <a:solidFill>
            <a:srgbClr val="0A1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32000"/>
            <a:ext cx="12192119" cy="43200"/>
          </a:xfrm>
          <a:prstGeom prst="rect">
            <a:avLst/>
          </a:prstGeom>
          <a:solidFill>
            <a:srgbClr val="F0C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Firmamento Technolog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000" y="54000"/>
            <a:ext cx="612527" cy="34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340000" y="90000"/>
            <a:ext cx="7200000" cy="30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Numeri chiave del progetto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40000" y="90000"/>
            <a:ext cx="1620000" cy="30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 i="1">
                <a:solidFill>
                  <a:srgbClr val="F0C95C"/>
                </a:solidFill>
                <a:latin typeface="Calibri"/>
              </a:rPr>
              <a:t>8 / 14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6001"/>
            <a:ext cx="12192119" cy="18000"/>
          </a:xfrm>
          <a:prstGeom prst="rect">
            <a:avLst/>
          </a:prstGeom>
          <a:solidFill>
            <a:srgbClr val="F0C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0000" y="6642000"/>
            <a:ext cx="11832119" cy="1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 i="1">
                <a:solidFill>
                  <a:srgbClr val="3A3A3A"/>
                </a:solidFill>
                <a:latin typeface="Calibri"/>
              </a:rPr>
              <a:t>Firmamento Technologies Soc. Coop. . P.IVA IT03038500991 . Via Brigata Liguria 105 R, Genova . PEC firmamentotechnologies@pec.it</a:t>
            </a:r>
          </a:p>
        </p:txBody>
      </p:sp>
      <p:sp>
        <p:nvSpPr>
          <p:cNvPr id="9" name="Rectangle 8"/>
          <p:cNvSpPr/>
          <p:nvPr/>
        </p:nvSpPr>
        <p:spPr>
          <a:xfrm>
            <a:off x="540000" y="900000"/>
            <a:ext cx="4860000" cy="360000"/>
          </a:xfrm>
          <a:prstGeom prst="rect">
            <a:avLst/>
          </a:prstGeom>
          <a:solidFill>
            <a:srgbClr val="0A1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0000" y="900000"/>
            <a:ext cx="486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Metrica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00000" y="900000"/>
            <a:ext cx="1800000" cy="360000"/>
          </a:xfrm>
          <a:prstGeom prst="rect">
            <a:avLst/>
          </a:prstGeom>
          <a:solidFill>
            <a:srgbClr val="0A1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00000" y="900000"/>
            <a:ext cx="18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Valore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200000" y="900000"/>
            <a:ext cx="4464000" cy="360000"/>
          </a:xfrm>
          <a:prstGeom prst="rect">
            <a:avLst/>
          </a:prstGeom>
          <a:solidFill>
            <a:srgbClr val="0A1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00000" y="900000"/>
            <a:ext cx="4464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Note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0000" y="1260000"/>
            <a:ext cx="4860000" cy="3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000" y="1260000"/>
            <a:ext cx="4716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0A1A3D"/>
                </a:solidFill>
                <a:latin typeface="Calibri"/>
              </a:rPr>
              <a:t>CapEx Y1 (6A)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00000" y="1260000"/>
            <a:ext cx="1800000" cy="3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72000" y="1260000"/>
            <a:ext cx="1656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 i="0">
                <a:solidFill>
                  <a:srgbClr val="0A1A3D"/>
                </a:solidFill>
                <a:latin typeface="Calibri"/>
              </a:rPr>
              <a:t>€700k - €2M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200000" y="1260000"/>
            <a:ext cx="4464000" cy="3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72000" y="1260000"/>
            <a:ext cx="432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3A3A3A"/>
                </a:solidFill>
                <a:latin typeface="Calibri"/>
              </a:rPr>
              <a:t>IVA + contingency 15% incluse; sliding realistic €2.5-3.5M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0000" y="1620000"/>
            <a:ext cx="4860000" cy="360000"/>
          </a:xfrm>
          <a:prstGeom prst="rect">
            <a:avLst/>
          </a:prstGeom>
          <a:solidFill>
            <a:srgbClr val="F4F4F6"/>
          </a:solidFill>
          <a:ln w="9525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2000" y="1620000"/>
            <a:ext cx="4716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0A1A3D"/>
                </a:solidFill>
                <a:latin typeface="Calibri"/>
              </a:rPr>
              <a:t>OpEx Y2 RECONCILED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00000" y="1620000"/>
            <a:ext cx="1800000" cy="360000"/>
          </a:xfrm>
          <a:prstGeom prst="rect">
            <a:avLst/>
          </a:prstGeom>
          <a:solidFill>
            <a:srgbClr val="F4F4F6"/>
          </a:solidFill>
          <a:ln w="9525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72000" y="1620000"/>
            <a:ext cx="1656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 i="0">
                <a:solidFill>
                  <a:srgbClr val="0A1A3D"/>
                </a:solidFill>
                <a:latin typeface="Calibri"/>
              </a:rPr>
              <a:t>€1.18M/anno (centro)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00000" y="1620000"/>
            <a:ext cx="4464000" cy="360000"/>
          </a:xfrm>
          <a:prstGeom prst="rect">
            <a:avLst/>
          </a:prstGeom>
          <a:solidFill>
            <a:srgbClr val="F4F4F6"/>
          </a:solidFill>
          <a:ln w="9525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72000" y="1620000"/>
            <a:ext cx="432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3A3A3A"/>
                </a:solidFill>
                <a:latin typeface="Calibri"/>
              </a:rPr>
              <a:t>Range €1.05-1.30M con +3 FTE regulatory mandatory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0000" y="1980000"/>
            <a:ext cx="4860000" cy="3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2000" y="1980000"/>
            <a:ext cx="4716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0A1A3D"/>
                </a:solidFill>
                <a:latin typeface="Calibri"/>
              </a:rPr>
              <a:t>Revenue Y1 RECALIBRATED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00000" y="1980000"/>
            <a:ext cx="1800000" cy="3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72000" y="1980000"/>
            <a:ext cx="1656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 i="0">
                <a:solidFill>
                  <a:srgbClr val="0A1A3D"/>
                </a:solidFill>
                <a:latin typeface="Calibri"/>
              </a:rPr>
              <a:t>€260k (centro)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200000" y="1980000"/>
            <a:ext cx="4464000" cy="3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272000" y="1980000"/>
            <a:ext cx="432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3A3A3A"/>
                </a:solidFill>
                <a:latin typeface="Calibri"/>
              </a:rPr>
              <a:t>Range €220-300k, hard floor €200k SyR-Cost-003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0000" y="2340000"/>
            <a:ext cx="4860000" cy="360000"/>
          </a:xfrm>
          <a:prstGeom prst="rect">
            <a:avLst/>
          </a:prstGeom>
          <a:solidFill>
            <a:srgbClr val="F4F4F6"/>
          </a:solidFill>
          <a:ln w="9525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2000" y="2340000"/>
            <a:ext cx="4716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0A1A3D"/>
                </a:solidFill>
                <a:latin typeface="Calibri"/>
              </a:rPr>
              <a:t>Break-even cumulato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00000" y="2340000"/>
            <a:ext cx="1800000" cy="360000"/>
          </a:xfrm>
          <a:prstGeom prst="rect">
            <a:avLst/>
          </a:prstGeom>
          <a:solidFill>
            <a:srgbClr val="F4F4F6"/>
          </a:solidFill>
          <a:ln w="9525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72000" y="2340000"/>
            <a:ext cx="1656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 i="0">
                <a:solidFill>
                  <a:srgbClr val="0A1A3D"/>
                </a:solidFill>
                <a:latin typeface="Calibri"/>
              </a:rPr>
              <a:t>Y5-Y6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200000" y="2340000"/>
            <a:ext cx="4464000" cy="360000"/>
          </a:xfrm>
          <a:prstGeom prst="rect">
            <a:avLst/>
          </a:prstGeom>
          <a:solidFill>
            <a:srgbClr val="F4F4F6"/>
          </a:solidFill>
          <a:ln w="9525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272000" y="2340000"/>
            <a:ext cx="432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3A3A3A"/>
                </a:solidFill>
                <a:latin typeface="Calibri"/>
              </a:rPr>
              <a:t>Post recalibration revenue + OpEx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0000" y="2700000"/>
            <a:ext cx="4860000" cy="3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12000" y="2700000"/>
            <a:ext cx="4716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0A1A3D"/>
                </a:solidFill>
                <a:latin typeface="Calibri"/>
              </a:rPr>
              <a:t>NPV 10y scenario base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400000" y="2700000"/>
            <a:ext cx="1800000" cy="3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72000" y="2700000"/>
            <a:ext cx="1656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 i="0">
                <a:solidFill>
                  <a:srgbClr val="0A1A3D"/>
                </a:solidFill>
                <a:latin typeface="Calibri"/>
              </a:rPr>
              <a:t>+€3.5M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200000" y="2700000"/>
            <a:ext cx="4464000" cy="3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272000" y="2700000"/>
            <a:ext cx="432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3A3A3A"/>
                </a:solidFill>
                <a:latin typeface="Calibri"/>
              </a:rPr>
              <a:t>WACC 12% blended (grant + equity + R&amp;D credit)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40000" y="3060000"/>
            <a:ext cx="4860000" cy="360000"/>
          </a:xfrm>
          <a:prstGeom prst="rect">
            <a:avLst/>
          </a:prstGeom>
          <a:solidFill>
            <a:srgbClr val="F4F4F6"/>
          </a:solidFill>
          <a:ln w="9525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12000" y="3060000"/>
            <a:ext cx="4716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0A1A3D"/>
                </a:solidFill>
                <a:latin typeface="Calibri"/>
              </a:rPr>
              <a:t>IRR 10y scenario base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400000" y="3060000"/>
            <a:ext cx="1800000" cy="360000"/>
          </a:xfrm>
          <a:prstGeom prst="rect">
            <a:avLst/>
          </a:prstGeom>
          <a:solidFill>
            <a:srgbClr val="F4F4F6"/>
          </a:solidFill>
          <a:ln w="9525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472000" y="3060000"/>
            <a:ext cx="1656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 i="0">
                <a:solidFill>
                  <a:srgbClr val="0A1A3D"/>
                </a:solidFill>
                <a:latin typeface="Calibri"/>
              </a:rPr>
              <a:t>12-18%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200000" y="3060000"/>
            <a:ext cx="4464000" cy="360000"/>
          </a:xfrm>
          <a:prstGeom prst="rect">
            <a:avLst/>
          </a:prstGeom>
          <a:solidFill>
            <a:srgbClr val="F4F4F6"/>
          </a:solidFill>
          <a:ln w="9525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272000" y="3060000"/>
            <a:ext cx="432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3A3A3A"/>
                </a:solidFill>
                <a:latin typeface="Calibri"/>
              </a:rPr>
              <a:t>Post recalibration; pre era 18-25%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40000" y="3420000"/>
            <a:ext cx="4860000" cy="3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12000" y="3420000"/>
            <a:ext cx="4716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0A1A3D"/>
                </a:solidFill>
                <a:latin typeface="Calibri"/>
              </a:rPr>
              <a:t>Payback semplice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400000" y="3420000"/>
            <a:ext cx="1800000" cy="3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472000" y="3420000"/>
            <a:ext cx="1656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 i="0">
                <a:solidFill>
                  <a:srgbClr val="0A1A3D"/>
                </a:solidFill>
                <a:latin typeface="Calibri"/>
              </a:rPr>
              <a:t>5-7 anni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200000" y="3420000"/>
            <a:ext cx="4464000" cy="3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272000" y="3420000"/>
            <a:ext cx="432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3A3A3A"/>
                </a:solidFill>
                <a:latin typeface="Calibri"/>
              </a:rPr>
              <a:t>Post recalibration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40000" y="3780000"/>
            <a:ext cx="4860000" cy="360000"/>
          </a:xfrm>
          <a:prstGeom prst="rect">
            <a:avLst/>
          </a:prstGeom>
          <a:solidFill>
            <a:srgbClr val="F4F4F6"/>
          </a:solidFill>
          <a:ln w="9525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12000" y="3780000"/>
            <a:ext cx="4716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0A1A3D"/>
                </a:solidFill>
                <a:latin typeface="Calibri"/>
              </a:rPr>
              <a:t>ARR Y3 target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400000" y="3780000"/>
            <a:ext cx="1800000" cy="360000"/>
          </a:xfrm>
          <a:prstGeom prst="rect">
            <a:avLst/>
          </a:prstGeom>
          <a:solidFill>
            <a:srgbClr val="F4F4F6"/>
          </a:solidFill>
          <a:ln w="9525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472000" y="3780000"/>
            <a:ext cx="1656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 i="0">
                <a:solidFill>
                  <a:srgbClr val="0A1A3D"/>
                </a:solidFill>
                <a:latin typeface="Calibri"/>
              </a:rPr>
              <a:t>€1.5-3.5M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200000" y="3780000"/>
            <a:ext cx="4464000" cy="360000"/>
          </a:xfrm>
          <a:prstGeom prst="rect">
            <a:avLst/>
          </a:prstGeom>
          <a:solidFill>
            <a:srgbClr val="F4F4F6"/>
          </a:solidFill>
          <a:ln w="9525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272000" y="3780000"/>
            <a:ext cx="432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3A3A3A"/>
                </a:solidFill>
                <a:latin typeface="Calibri"/>
              </a:rPr>
              <a:t>Scale-up Liguria + 1 regione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40000" y="4140000"/>
            <a:ext cx="4860000" cy="3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12000" y="4140000"/>
            <a:ext cx="4716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0A1A3D"/>
                </a:solidFill>
                <a:latin typeface="Calibri"/>
              </a:rPr>
              <a:t>ARR Y5 target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400000" y="4140000"/>
            <a:ext cx="1800000" cy="3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72000" y="4140000"/>
            <a:ext cx="1656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 i="0">
                <a:solidFill>
                  <a:srgbClr val="0A1A3D"/>
                </a:solidFill>
                <a:latin typeface="Calibri"/>
              </a:rPr>
              <a:t>€3-8M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200000" y="4140000"/>
            <a:ext cx="4464000" cy="3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272000" y="4140000"/>
            <a:ext cx="432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3A3A3A"/>
                </a:solidFill>
                <a:latin typeface="Calibri"/>
              </a:rPr>
              <a:t>Multi-regione + HAPS subscale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40000" y="4500000"/>
            <a:ext cx="4860000" cy="360000"/>
          </a:xfrm>
          <a:prstGeom prst="rect">
            <a:avLst/>
          </a:prstGeom>
          <a:solidFill>
            <a:srgbClr val="F4F4F6"/>
          </a:solidFill>
          <a:ln w="9525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12000" y="4500000"/>
            <a:ext cx="4716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0A1A3D"/>
                </a:solidFill>
                <a:latin typeface="Calibri"/>
              </a:rPr>
              <a:t>Capital intensity Y10 small fleet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400000" y="4500000"/>
            <a:ext cx="1800000" cy="360000"/>
          </a:xfrm>
          <a:prstGeom prst="rect">
            <a:avLst/>
          </a:prstGeom>
          <a:solidFill>
            <a:srgbClr val="F4F4F6"/>
          </a:solidFill>
          <a:ln w="9525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472000" y="4500000"/>
            <a:ext cx="1656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 i="0">
                <a:solidFill>
                  <a:srgbClr val="0A1A3D"/>
                </a:solidFill>
                <a:latin typeface="Calibri"/>
              </a:rPr>
              <a:t>€500M - €2B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200000" y="4500000"/>
            <a:ext cx="4464000" cy="360000"/>
          </a:xfrm>
          <a:prstGeom prst="rect">
            <a:avLst/>
          </a:prstGeom>
          <a:solidFill>
            <a:srgbClr val="F4F4F6"/>
          </a:solidFill>
          <a:ln w="9525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272000" y="4500000"/>
            <a:ext cx="432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3A3A3A"/>
                </a:solidFill>
                <a:latin typeface="Calibri"/>
              </a:rPr>
              <a:t>5-10 HAPS + 10-20 VTOL/MALE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40000" y="4860000"/>
            <a:ext cx="4860000" cy="3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12000" y="4860000"/>
            <a:ext cx="4716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0A1A3D"/>
                </a:solidFill>
                <a:latin typeface="Calibri"/>
              </a:rPr>
              <a:t>Capital intensity Y10 EU sovereign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400000" y="4860000"/>
            <a:ext cx="1800000" cy="3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472000" y="4860000"/>
            <a:ext cx="1656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 i="0">
                <a:solidFill>
                  <a:srgbClr val="0A1A3D"/>
                </a:solidFill>
                <a:latin typeface="Calibri"/>
              </a:rPr>
              <a:t>€10-30B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200000" y="4860000"/>
            <a:ext cx="4464000" cy="3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272000" y="4860000"/>
            <a:ext cx="432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3A3A3A"/>
                </a:solidFill>
                <a:latin typeface="Calibri"/>
              </a:rPr>
              <a:t>Precondizione: programma EU dedicato analog IRIS²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432000"/>
          </a:xfrm>
          <a:prstGeom prst="rect">
            <a:avLst/>
          </a:prstGeom>
          <a:solidFill>
            <a:srgbClr val="0A1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32000"/>
            <a:ext cx="12192119" cy="43200"/>
          </a:xfrm>
          <a:prstGeom prst="rect">
            <a:avLst/>
          </a:prstGeom>
          <a:solidFill>
            <a:srgbClr val="F0C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Firmamento Technolog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000" y="54000"/>
            <a:ext cx="612527" cy="34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340000" y="90000"/>
            <a:ext cx="7200000" cy="30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Mix finanziamento raccomandato Y1 Percorso 6A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40000" y="90000"/>
            <a:ext cx="1620000" cy="30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 i="1">
                <a:solidFill>
                  <a:srgbClr val="F0C95C"/>
                </a:solidFill>
                <a:latin typeface="Calibri"/>
              </a:rPr>
              <a:t>9 / 14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6001"/>
            <a:ext cx="12192119" cy="18000"/>
          </a:xfrm>
          <a:prstGeom prst="rect">
            <a:avLst/>
          </a:prstGeom>
          <a:solidFill>
            <a:srgbClr val="F0C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0000" y="6642000"/>
            <a:ext cx="11832119" cy="1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 i="1">
                <a:solidFill>
                  <a:srgbClr val="3A3A3A"/>
                </a:solidFill>
                <a:latin typeface="Calibri"/>
              </a:rPr>
              <a:t>Firmamento Technologies Soc. Coop. . P.IVA IT03038500991 . Via Brigata Liguria 105 R, Genova . PEC firmamentotechnologies@pec.it</a:t>
            </a:r>
          </a:p>
        </p:txBody>
      </p:sp>
      <p:sp>
        <p:nvSpPr>
          <p:cNvPr id="9" name="Rectangle 8"/>
          <p:cNvSpPr/>
          <p:nvPr/>
        </p:nvSpPr>
        <p:spPr>
          <a:xfrm>
            <a:off x="540000" y="900000"/>
            <a:ext cx="4860000" cy="503999"/>
          </a:xfrm>
          <a:prstGeom prst="rect">
            <a:avLst/>
          </a:prstGeom>
          <a:solidFill>
            <a:srgbClr val="0A1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0000" y="900000"/>
            <a:ext cx="4860000" cy="503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Fonte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00000" y="900000"/>
            <a:ext cx="1440000" cy="503999"/>
          </a:xfrm>
          <a:prstGeom prst="rect">
            <a:avLst/>
          </a:prstGeom>
          <a:solidFill>
            <a:srgbClr val="0A1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00000" y="900000"/>
            <a:ext cx="1440000" cy="503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Target €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40000" y="900000"/>
            <a:ext cx="1440000" cy="503999"/>
          </a:xfrm>
          <a:prstGeom prst="rect">
            <a:avLst/>
          </a:prstGeom>
          <a:solidFill>
            <a:srgbClr val="0A1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40000" y="900000"/>
            <a:ext cx="1440000" cy="503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% mix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80000" y="900000"/>
            <a:ext cx="3384000" cy="503999"/>
          </a:xfrm>
          <a:prstGeom prst="rect">
            <a:avLst/>
          </a:prstGeom>
          <a:solidFill>
            <a:srgbClr val="0A1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80000" y="900000"/>
            <a:ext cx="3384000" cy="503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Status M+3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0000" y="1403999"/>
            <a:ext cx="4860000" cy="503999"/>
          </a:xfrm>
          <a:prstGeom prst="rect">
            <a:avLst/>
          </a:prstGeom>
          <a:solidFill>
            <a:srgbClr val="FFFFFF"/>
          </a:solidFill>
          <a:ln w="9525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2000" y="1403999"/>
            <a:ext cx="4716000" cy="503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0A1A3D"/>
                </a:solidFill>
                <a:latin typeface="Calibri"/>
              </a:rPr>
              <a:t>Coopfond Cooding Prototypes 2026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00000" y="1403999"/>
            <a:ext cx="1440000" cy="503999"/>
          </a:xfrm>
          <a:prstGeom prst="rect">
            <a:avLst/>
          </a:prstGeom>
          <a:solidFill>
            <a:srgbClr val="FFFFFF"/>
          </a:solidFill>
          <a:ln w="9525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72000" y="1403999"/>
            <a:ext cx="1296000" cy="503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0">
                <a:solidFill>
                  <a:srgbClr val="0A1A3D"/>
                </a:solidFill>
                <a:latin typeface="Calibri"/>
              </a:rPr>
              <a:t>50k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40000" y="1403999"/>
            <a:ext cx="1440000" cy="503999"/>
          </a:xfrm>
          <a:prstGeom prst="rect">
            <a:avLst/>
          </a:prstGeom>
          <a:solidFill>
            <a:srgbClr val="FFFFFF"/>
          </a:solidFill>
          <a:ln w="9525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12000" y="1403999"/>
            <a:ext cx="1296000" cy="503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0">
                <a:solidFill>
                  <a:srgbClr val="0A1A3D"/>
                </a:solidFill>
                <a:latin typeface="Calibri"/>
              </a:rPr>
              <a:t>5%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80000" y="1403999"/>
            <a:ext cx="3384000" cy="503999"/>
          </a:xfrm>
          <a:prstGeom prst="rect">
            <a:avLst/>
          </a:prstGeom>
          <a:solidFill>
            <a:srgbClr val="FFFFFF"/>
          </a:solidFill>
          <a:ln w="9525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52000" y="1403999"/>
            <a:ext cx="3240000" cy="503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3A3A3A"/>
                </a:solidFill>
                <a:latin typeface="Calibri"/>
              </a:rPr>
              <a:t>DR-002 verifica calendario bando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0000" y="1907998"/>
            <a:ext cx="4860000" cy="503999"/>
          </a:xfrm>
          <a:prstGeom prst="rect">
            <a:avLst/>
          </a:prstGeom>
          <a:solidFill>
            <a:srgbClr val="F4F4F6"/>
          </a:solidFill>
          <a:ln w="9525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2000" y="1907998"/>
            <a:ext cx="4716000" cy="503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0A1A3D"/>
                </a:solidFill>
                <a:latin typeface="Calibri"/>
              </a:rPr>
              <a:t>Coopfond Cooding-Invest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00000" y="1907998"/>
            <a:ext cx="1440000" cy="503999"/>
          </a:xfrm>
          <a:prstGeom prst="rect">
            <a:avLst/>
          </a:prstGeom>
          <a:solidFill>
            <a:srgbClr val="F4F4F6"/>
          </a:solidFill>
          <a:ln w="9525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72000" y="1907998"/>
            <a:ext cx="1296000" cy="503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0">
                <a:solidFill>
                  <a:srgbClr val="0A1A3D"/>
                </a:solidFill>
                <a:latin typeface="Calibri"/>
              </a:rPr>
              <a:t>150-300k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40000" y="1907998"/>
            <a:ext cx="1440000" cy="503999"/>
          </a:xfrm>
          <a:prstGeom prst="rect">
            <a:avLst/>
          </a:prstGeom>
          <a:solidFill>
            <a:srgbClr val="F4F4F6"/>
          </a:solidFill>
          <a:ln w="9525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12000" y="1907998"/>
            <a:ext cx="1296000" cy="503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0">
                <a:solidFill>
                  <a:srgbClr val="0A1A3D"/>
                </a:solidFill>
                <a:latin typeface="Calibri"/>
              </a:rPr>
              <a:t>15-20%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80000" y="1907998"/>
            <a:ext cx="3384000" cy="503999"/>
          </a:xfrm>
          <a:prstGeom prst="rect">
            <a:avLst/>
          </a:prstGeom>
          <a:solidFill>
            <a:srgbClr val="F4F4F6"/>
          </a:solidFill>
          <a:ln w="9525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52000" y="1907998"/>
            <a:ext cx="3240000" cy="503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3A3A3A"/>
                </a:solidFill>
                <a:latin typeface="Calibri"/>
              </a:rPr>
              <a:t>Q2 2026 pending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0000" y="2411997"/>
            <a:ext cx="4860000" cy="503999"/>
          </a:xfrm>
          <a:prstGeom prst="rect">
            <a:avLst/>
          </a:prstGeom>
          <a:solidFill>
            <a:srgbClr val="FFFFFF"/>
          </a:solidFill>
          <a:ln w="9525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2000" y="2411997"/>
            <a:ext cx="4716000" cy="503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0A1A3D"/>
                </a:solidFill>
                <a:latin typeface="Calibri"/>
              </a:rPr>
              <a:t>Regione Liguria FESR 2021-2027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00000" y="2411997"/>
            <a:ext cx="1440000" cy="503999"/>
          </a:xfrm>
          <a:prstGeom prst="rect">
            <a:avLst/>
          </a:prstGeom>
          <a:solidFill>
            <a:srgbClr val="FFFFFF"/>
          </a:solidFill>
          <a:ln w="9525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72000" y="2411997"/>
            <a:ext cx="1296000" cy="503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0">
                <a:solidFill>
                  <a:srgbClr val="0A1A3D"/>
                </a:solidFill>
                <a:latin typeface="Calibri"/>
              </a:rPr>
              <a:t>300-500k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840000" y="2411997"/>
            <a:ext cx="1440000" cy="503999"/>
          </a:xfrm>
          <a:prstGeom prst="rect">
            <a:avLst/>
          </a:prstGeom>
          <a:solidFill>
            <a:srgbClr val="FFFFFF"/>
          </a:solidFill>
          <a:ln w="9525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912000" y="2411997"/>
            <a:ext cx="1296000" cy="503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0">
                <a:solidFill>
                  <a:srgbClr val="0A1A3D"/>
                </a:solidFill>
                <a:latin typeface="Calibri"/>
              </a:rPr>
              <a:t>25-40%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280000" y="2411997"/>
            <a:ext cx="3384000" cy="503999"/>
          </a:xfrm>
          <a:prstGeom prst="rect">
            <a:avLst/>
          </a:prstGeom>
          <a:solidFill>
            <a:srgbClr val="FFFFFF"/>
          </a:solidFill>
          <a:ln w="9525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352000" y="2411997"/>
            <a:ext cx="3240000" cy="503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3A3A3A"/>
                </a:solidFill>
                <a:latin typeface="Calibri"/>
              </a:rPr>
              <a:t>OQ-010 LoI in costruzione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40000" y="2915996"/>
            <a:ext cx="4860000" cy="503999"/>
          </a:xfrm>
          <a:prstGeom prst="rect">
            <a:avLst/>
          </a:prstGeom>
          <a:solidFill>
            <a:srgbClr val="F4F4F6"/>
          </a:solidFill>
          <a:ln w="9525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12000" y="2915996"/>
            <a:ext cx="4716000" cy="503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0A1A3D"/>
                </a:solidFill>
                <a:latin typeface="Calibri"/>
              </a:rPr>
              <a:t>PNRR Aerospazio / IS4Aerospace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400000" y="2915996"/>
            <a:ext cx="1440000" cy="503999"/>
          </a:xfrm>
          <a:prstGeom prst="rect">
            <a:avLst/>
          </a:prstGeom>
          <a:solidFill>
            <a:srgbClr val="F4F4F6"/>
          </a:solidFill>
          <a:ln w="9525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72000" y="2915996"/>
            <a:ext cx="1296000" cy="503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0">
                <a:solidFill>
                  <a:srgbClr val="0A1A3D"/>
                </a:solidFill>
                <a:latin typeface="Calibri"/>
              </a:rPr>
              <a:t>0-300k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840000" y="2915996"/>
            <a:ext cx="1440000" cy="503999"/>
          </a:xfrm>
          <a:prstGeom prst="rect">
            <a:avLst/>
          </a:prstGeom>
          <a:solidFill>
            <a:srgbClr val="F4F4F6"/>
          </a:solidFill>
          <a:ln w="9525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912000" y="2915996"/>
            <a:ext cx="1296000" cy="503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0">
                <a:solidFill>
                  <a:srgbClr val="0A1A3D"/>
                </a:solidFill>
                <a:latin typeface="Calibri"/>
              </a:rPr>
              <a:t>0-20%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280000" y="2915996"/>
            <a:ext cx="3384000" cy="503999"/>
          </a:xfrm>
          <a:prstGeom prst="rect">
            <a:avLst/>
          </a:prstGeom>
          <a:solidFill>
            <a:srgbClr val="F4F4F6"/>
          </a:solidFill>
          <a:ln w="9525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352000" y="2915996"/>
            <a:ext cx="3240000" cy="503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3A3A3A"/>
                </a:solidFill>
                <a:latin typeface="Calibri"/>
              </a:rPr>
              <a:t>Partnership Polito DIMEAS in valutazione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40000" y="3419995"/>
            <a:ext cx="4860000" cy="503999"/>
          </a:xfrm>
          <a:prstGeom prst="rect">
            <a:avLst/>
          </a:prstGeom>
          <a:solidFill>
            <a:srgbClr val="FFFFFF"/>
          </a:solidFill>
          <a:ln w="9525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12000" y="3419995"/>
            <a:ext cx="4716000" cy="503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0A1A3D"/>
                </a:solidFill>
                <a:latin typeface="Calibri"/>
              </a:rPr>
              <a:t>Equity privato (founder + seed)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400000" y="3419995"/>
            <a:ext cx="1440000" cy="503999"/>
          </a:xfrm>
          <a:prstGeom prst="rect">
            <a:avLst/>
          </a:prstGeom>
          <a:solidFill>
            <a:srgbClr val="FFFFFF"/>
          </a:solidFill>
          <a:ln w="9525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472000" y="3419995"/>
            <a:ext cx="1296000" cy="503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0">
                <a:solidFill>
                  <a:srgbClr val="0A1A3D"/>
                </a:solidFill>
                <a:latin typeface="Calibri"/>
              </a:rPr>
              <a:t>200-500k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840000" y="3419995"/>
            <a:ext cx="1440000" cy="503999"/>
          </a:xfrm>
          <a:prstGeom prst="rect">
            <a:avLst/>
          </a:prstGeom>
          <a:solidFill>
            <a:srgbClr val="FFFFFF"/>
          </a:solidFill>
          <a:ln w="9525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912000" y="3419995"/>
            <a:ext cx="1296000" cy="503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0">
                <a:solidFill>
                  <a:srgbClr val="0A1A3D"/>
                </a:solidFill>
                <a:latin typeface="Calibri"/>
              </a:rPr>
              <a:t>15-35%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280000" y="3419995"/>
            <a:ext cx="3384000" cy="503999"/>
          </a:xfrm>
          <a:prstGeom prst="rect">
            <a:avLst/>
          </a:prstGeom>
          <a:solidFill>
            <a:srgbClr val="FFFFFF"/>
          </a:solidFill>
          <a:ln w="9525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352000" y="3419995"/>
            <a:ext cx="3240000" cy="503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3A3A3A"/>
                </a:solidFill>
                <a:latin typeface="Calibri"/>
              </a:rPr>
              <a:t>Round seed Q1 2026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40000" y="3923994"/>
            <a:ext cx="4860000" cy="503999"/>
          </a:xfrm>
          <a:prstGeom prst="rect">
            <a:avLst/>
          </a:prstGeom>
          <a:solidFill>
            <a:srgbClr val="F4F4F6"/>
          </a:solidFill>
          <a:ln w="9525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12000" y="3923994"/>
            <a:ext cx="4716000" cy="503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0A1A3D"/>
                </a:solidFill>
                <a:latin typeface="Calibri"/>
              </a:rPr>
              <a:t>R&amp;D tax credit (L. 160/2019)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400000" y="3923994"/>
            <a:ext cx="1440000" cy="503999"/>
          </a:xfrm>
          <a:prstGeom prst="rect">
            <a:avLst/>
          </a:prstGeom>
          <a:solidFill>
            <a:srgbClr val="F4F4F6"/>
          </a:solidFill>
          <a:ln w="9525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472000" y="3923994"/>
            <a:ext cx="1296000" cy="503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0">
                <a:solidFill>
                  <a:srgbClr val="0A1A3D"/>
                </a:solidFill>
                <a:latin typeface="Calibri"/>
              </a:rPr>
              <a:t>50-150k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840000" y="3923994"/>
            <a:ext cx="1440000" cy="503999"/>
          </a:xfrm>
          <a:prstGeom prst="rect">
            <a:avLst/>
          </a:prstGeom>
          <a:solidFill>
            <a:srgbClr val="F4F4F6"/>
          </a:solidFill>
          <a:ln w="9525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912000" y="3923994"/>
            <a:ext cx="1296000" cy="503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0">
                <a:solidFill>
                  <a:srgbClr val="0A1A3D"/>
                </a:solidFill>
                <a:latin typeface="Calibri"/>
              </a:rPr>
              <a:t>5-15%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280000" y="3923994"/>
            <a:ext cx="3384000" cy="503999"/>
          </a:xfrm>
          <a:prstGeom prst="rect">
            <a:avLst/>
          </a:prstGeom>
          <a:solidFill>
            <a:srgbClr val="F4F4F6"/>
          </a:solidFill>
          <a:ln w="9525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352000" y="3923994"/>
            <a:ext cx="3240000" cy="503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3A3A3A"/>
                </a:solidFill>
                <a:latin typeface="Calibri"/>
              </a:rPr>
              <a:t>Cumulabile post-spesa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40000" y="4427993"/>
            <a:ext cx="4860000" cy="503999"/>
          </a:xfrm>
          <a:prstGeom prst="rect">
            <a:avLst/>
          </a:prstGeom>
          <a:solidFill>
            <a:srgbClr val="F0C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12000" y="4427993"/>
            <a:ext cx="4716000" cy="503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0A1A3D"/>
                </a:solidFill>
                <a:latin typeface="Calibri"/>
              </a:rPr>
              <a:t>TOTALE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400000" y="4427993"/>
            <a:ext cx="1440000" cy="503999"/>
          </a:xfrm>
          <a:prstGeom prst="rect">
            <a:avLst/>
          </a:prstGeom>
          <a:solidFill>
            <a:srgbClr val="F0C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472000" y="4427993"/>
            <a:ext cx="1296000" cy="503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 i="0">
                <a:solidFill>
                  <a:srgbClr val="0A1A3D"/>
                </a:solidFill>
                <a:latin typeface="Calibri"/>
              </a:rPr>
              <a:t>€0.75-1.75M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840000" y="4427993"/>
            <a:ext cx="1440000" cy="503999"/>
          </a:xfrm>
          <a:prstGeom prst="rect">
            <a:avLst/>
          </a:prstGeom>
          <a:solidFill>
            <a:srgbClr val="F0C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912000" y="4427993"/>
            <a:ext cx="1296000" cy="503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 i="0">
                <a:solidFill>
                  <a:srgbClr val="0A1A3D"/>
                </a:solidFill>
                <a:latin typeface="Calibri"/>
              </a:rPr>
              <a:t>100%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280000" y="4427993"/>
            <a:ext cx="3384000" cy="503999"/>
          </a:xfrm>
          <a:prstGeom prst="rect">
            <a:avLst/>
          </a:prstGeom>
          <a:solidFill>
            <a:srgbClr val="F0C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352000" y="4427993"/>
            <a:ext cx="3240000" cy="503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 i="0">
                <a:solidFill>
                  <a:srgbClr val="0A1A3D"/>
                </a:solidFill>
                <a:latin typeface="Calibri"/>
              </a:rPr>
              <a:t>Mix da consolidare entro M+10 (60% committed)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432000"/>
          </a:xfrm>
          <a:prstGeom prst="rect">
            <a:avLst/>
          </a:prstGeom>
          <a:solidFill>
            <a:srgbClr val="0A1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32000"/>
            <a:ext cx="12192119" cy="43200"/>
          </a:xfrm>
          <a:prstGeom prst="rect">
            <a:avLst/>
          </a:prstGeom>
          <a:solidFill>
            <a:srgbClr val="F0C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Firmamento Technolog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000" y="54000"/>
            <a:ext cx="612527" cy="34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340000" y="90000"/>
            <a:ext cx="7200000" cy="30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Cronoprogramma e gate decisionali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40000" y="90000"/>
            <a:ext cx="1620000" cy="30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 i="1">
                <a:solidFill>
                  <a:srgbClr val="F0C95C"/>
                </a:solidFill>
                <a:latin typeface="Calibri"/>
              </a:rPr>
              <a:t>10 / 14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6001"/>
            <a:ext cx="12192119" cy="18000"/>
          </a:xfrm>
          <a:prstGeom prst="rect">
            <a:avLst/>
          </a:prstGeom>
          <a:solidFill>
            <a:srgbClr val="F0C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0000" y="6642000"/>
            <a:ext cx="11832119" cy="1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 i="1">
                <a:solidFill>
                  <a:srgbClr val="3A3A3A"/>
                </a:solidFill>
                <a:latin typeface="Calibri"/>
              </a:rPr>
              <a:t>Firmamento Technologies Soc. Coop. . P.IVA IT03038500991 . Via Brigata Liguria 105 R, Genova . PEC firmamentotechnologies@pec.it</a:t>
            </a:r>
          </a:p>
        </p:txBody>
      </p:sp>
      <p:sp>
        <p:nvSpPr>
          <p:cNvPr id="9" name="Rectangle 8"/>
          <p:cNvSpPr/>
          <p:nvPr/>
        </p:nvSpPr>
        <p:spPr>
          <a:xfrm>
            <a:off x="540000" y="2880000"/>
            <a:ext cx="11124000" cy="54000"/>
          </a:xfrm>
          <a:prstGeom prst="rect">
            <a:avLst/>
          </a:prstGeom>
          <a:solidFill>
            <a:srgbClr val="0A1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64059" y="2520000"/>
            <a:ext cx="36000" cy="720000"/>
          </a:xfrm>
          <a:prstGeom prst="rect">
            <a:avLst/>
          </a:prstGeom>
          <a:solidFill>
            <a:srgbClr val="0A1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6059" y="3420000"/>
            <a:ext cx="1332000" cy="900000"/>
          </a:xfrm>
          <a:prstGeom prst="rect">
            <a:avLst/>
          </a:prstGeom>
          <a:solidFill>
            <a:srgbClr val="0A1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6059" y="3528000"/>
            <a:ext cx="1332000" cy="28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G0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6059" y="3780000"/>
            <a:ext cx="1332000" cy="21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M+0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6059" y="3960000"/>
            <a:ext cx="1332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Kick-off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568059" y="2520000"/>
            <a:ext cx="36000" cy="720000"/>
          </a:xfrm>
          <a:prstGeom prst="rect">
            <a:avLst/>
          </a:prstGeom>
          <a:solidFill>
            <a:srgbClr val="0A1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920059" y="3420000"/>
            <a:ext cx="1332000" cy="900000"/>
          </a:xfrm>
          <a:prstGeom prst="rect">
            <a:avLst/>
          </a:prstGeom>
          <a:solidFill>
            <a:srgbClr val="0A1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920059" y="3528000"/>
            <a:ext cx="1332000" cy="28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G1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20059" y="3780000"/>
            <a:ext cx="1332000" cy="21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M+3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20059" y="3960000"/>
            <a:ext cx="1332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Concept Review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72059" y="2520000"/>
            <a:ext cx="36000" cy="720000"/>
          </a:xfrm>
          <a:prstGeom prst="rect">
            <a:avLst/>
          </a:prstGeom>
          <a:solidFill>
            <a:srgbClr val="0A1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324059" y="3420000"/>
            <a:ext cx="1332000" cy="900000"/>
          </a:xfrm>
          <a:prstGeom prst="rect">
            <a:avLst/>
          </a:prstGeom>
          <a:solidFill>
            <a:srgbClr val="0A1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4059" y="3528000"/>
            <a:ext cx="1332000" cy="28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G2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24059" y="3780000"/>
            <a:ext cx="1332000" cy="21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M+6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24059" y="3960000"/>
            <a:ext cx="1332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Architecture Baselined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376059" y="2520000"/>
            <a:ext cx="36000" cy="720000"/>
          </a:xfrm>
          <a:prstGeom prst="rect">
            <a:avLst/>
          </a:prstGeom>
          <a:solidFill>
            <a:srgbClr val="F0C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728059" y="3240000"/>
            <a:ext cx="1332000" cy="1080000"/>
          </a:xfrm>
          <a:prstGeom prst="rect">
            <a:avLst/>
          </a:prstGeom>
          <a:solidFill>
            <a:srgbClr val="F0C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28059" y="3348000"/>
            <a:ext cx="1332000" cy="28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i="0">
                <a:solidFill>
                  <a:srgbClr val="0A1A3D"/>
                </a:solidFill>
                <a:latin typeface="Calibri"/>
              </a:rPr>
              <a:t>G3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28059" y="3600000"/>
            <a:ext cx="1332000" cy="21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 i="0">
                <a:solidFill>
                  <a:srgbClr val="0A1A3D"/>
                </a:solidFill>
                <a:latin typeface="Calibri"/>
              </a:rPr>
              <a:t>M+10/11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28059" y="3780000"/>
            <a:ext cx="1332000" cy="5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 i="0">
                <a:solidFill>
                  <a:srgbClr val="0A1A3D"/>
                </a:solidFill>
                <a:latin typeface="Calibri"/>
              </a:rPr>
              <a:t>★ FEASIBILITY GATE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780059" y="2520000"/>
            <a:ext cx="36000" cy="720000"/>
          </a:xfrm>
          <a:prstGeom prst="rect">
            <a:avLst/>
          </a:prstGeom>
          <a:solidFill>
            <a:srgbClr val="0A1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32059" y="3420000"/>
            <a:ext cx="1332000" cy="900000"/>
          </a:xfrm>
          <a:prstGeom prst="rect">
            <a:avLst/>
          </a:prstGeom>
          <a:solidFill>
            <a:srgbClr val="0A1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132059" y="3528000"/>
            <a:ext cx="1332000" cy="28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G4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32059" y="3780000"/>
            <a:ext cx="1332000" cy="21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M+12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32059" y="3960000"/>
            <a:ext cx="1332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Fine pilota VTOL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84059" y="2520000"/>
            <a:ext cx="36000" cy="720000"/>
          </a:xfrm>
          <a:prstGeom prst="rect">
            <a:avLst/>
          </a:prstGeom>
          <a:solidFill>
            <a:srgbClr val="0A1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536059" y="3420000"/>
            <a:ext cx="1332000" cy="900000"/>
          </a:xfrm>
          <a:prstGeom prst="rect">
            <a:avLst/>
          </a:prstGeom>
          <a:solidFill>
            <a:srgbClr val="0A1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536059" y="3528000"/>
            <a:ext cx="1332000" cy="28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G5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36059" y="3780000"/>
            <a:ext cx="1332000" cy="21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M+24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36059" y="3960000"/>
            <a:ext cx="1332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Phase B 6B Decision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588059" y="2520000"/>
            <a:ext cx="36000" cy="720000"/>
          </a:xfrm>
          <a:prstGeom prst="rect">
            <a:avLst/>
          </a:prstGeom>
          <a:solidFill>
            <a:srgbClr val="0A1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940059" y="3420000"/>
            <a:ext cx="1332000" cy="900000"/>
          </a:xfrm>
          <a:prstGeom prst="rect">
            <a:avLst/>
          </a:prstGeom>
          <a:solidFill>
            <a:srgbClr val="0A1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940059" y="3528000"/>
            <a:ext cx="1332000" cy="28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G6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940059" y="3780000"/>
            <a:ext cx="1332000" cy="21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M+36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940059" y="3960000"/>
            <a:ext cx="1332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Phase B Midterm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992059" y="2520000"/>
            <a:ext cx="36000" cy="720000"/>
          </a:xfrm>
          <a:prstGeom prst="rect">
            <a:avLst/>
          </a:prstGeom>
          <a:solidFill>
            <a:srgbClr val="0A1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0344059" y="3420000"/>
            <a:ext cx="1332000" cy="900000"/>
          </a:xfrm>
          <a:prstGeom prst="rect">
            <a:avLst/>
          </a:prstGeom>
          <a:solidFill>
            <a:srgbClr val="0A1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344059" y="3528000"/>
            <a:ext cx="1332000" cy="28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End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344059" y="3780000"/>
            <a:ext cx="1332000" cy="21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M+48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344059" y="3960000"/>
            <a:ext cx="1332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Phase B End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20000" y="1260000"/>
            <a:ext cx="54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0A1A3D"/>
                </a:solidFill>
                <a:latin typeface="Calibri"/>
              </a:rPr>
              <a:t>STUDIO DI FATTIBILITA' (M+0 → M+11)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580000" y="1260000"/>
            <a:ext cx="288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0A1A3D"/>
                </a:solidFill>
                <a:latin typeface="Calibri"/>
              </a:rPr>
              <a:t>PILOTA 6A VTOL (M+12 → M+24)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80000" y="1260000"/>
            <a:ext cx="324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0A1A3D"/>
                </a:solidFill>
                <a:latin typeface="Calibri"/>
              </a:rPr>
              <a:t>R&amp;D 6B HALE PHASE B (M+24 → M+48)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40000" y="5040000"/>
            <a:ext cx="11124000" cy="900000"/>
          </a:xfrm>
          <a:prstGeom prst="rect">
            <a:avLst/>
          </a:prstGeom>
          <a:solidFill>
            <a:srgbClr val="FDF8E8"/>
          </a:solidFill>
          <a:ln w="9525">
            <a:solidFill>
              <a:srgbClr val="F0C9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20000" y="5076000"/>
            <a:ext cx="10800000" cy="827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0A1A3D"/>
                </a:solidFill>
                <a:latin typeface="Calibri"/>
              </a:rPr>
              <a:t>★ G3 FEASIBILITY GATE PRIMARIO (M+10-11): verdetto Go / Hold / No-Go per ciascun percorso. Oggetto formale del presente Studio. Scenario realistico atteso: HOLD CON PIANO RAFFORZATO + re-review G3-bis M+13-16.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432000"/>
          </a:xfrm>
          <a:prstGeom prst="rect">
            <a:avLst/>
          </a:prstGeom>
          <a:solidFill>
            <a:srgbClr val="0A1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32000"/>
            <a:ext cx="12192119" cy="43200"/>
          </a:xfrm>
          <a:prstGeom prst="rect">
            <a:avLst/>
          </a:prstGeom>
          <a:solidFill>
            <a:srgbClr val="F0C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Firmamento Technolog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000" y="54000"/>
            <a:ext cx="612527" cy="34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340000" y="90000"/>
            <a:ext cx="7200000" cy="30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Risk profile, 5 showstopper formali (Risk Register A.2)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40000" y="90000"/>
            <a:ext cx="1620000" cy="30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 i="1">
                <a:solidFill>
                  <a:srgbClr val="F0C95C"/>
                </a:solidFill>
                <a:latin typeface="Calibri"/>
              </a:rPr>
              <a:t>11 / 14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6001"/>
            <a:ext cx="12192119" cy="18000"/>
          </a:xfrm>
          <a:prstGeom prst="rect">
            <a:avLst/>
          </a:prstGeom>
          <a:solidFill>
            <a:srgbClr val="F0C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0000" y="6642000"/>
            <a:ext cx="11832119" cy="1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 i="1">
                <a:solidFill>
                  <a:srgbClr val="3A3A3A"/>
                </a:solidFill>
                <a:latin typeface="Calibri"/>
              </a:rPr>
              <a:t>Firmamento Technologies Soc. Coop. . P.IVA IT03038500991 . Via Brigata Liguria 105 R, Genova . PEC firmamentotechnologies@pec.it</a:t>
            </a:r>
          </a:p>
        </p:txBody>
      </p:sp>
      <p:sp>
        <p:nvSpPr>
          <p:cNvPr id="9" name="Rectangle 8"/>
          <p:cNvSpPr/>
          <p:nvPr/>
        </p:nvSpPr>
        <p:spPr>
          <a:xfrm>
            <a:off x="540000" y="936000"/>
            <a:ext cx="360000" cy="503999"/>
          </a:xfrm>
          <a:prstGeom prst="rect">
            <a:avLst/>
          </a:prstGeom>
          <a:solidFill>
            <a:srgbClr val="0A1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0000" y="936000"/>
            <a:ext cx="360000" cy="503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#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00000" y="936000"/>
            <a:ext cx="1080000" cy="503999"/>
          </a:xfrm>
          <a:prstGeom prst="rect">
            <a:avLst/>
          </a:prstGeom>
          <a:solidFill>
            <a:srgbClr val="0A1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0000" y="936000"/>
            <a:ext cx="1080000" cy="503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RSK-ID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980000" y="936000"/>
            <a:ext cx="3600000" cy="503999"/>
          </a:xfrm>
          <a:prstGeom prst="rect">
            <a:avLst/>
          </a:prstGeom>
          <a:solidFill>
            <a:srgbClr val="0A1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80000" y="936000"/>
            <a:ext cx="3600000" cy="503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Categoria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580000" y="936000"/>
            <a:ext cx="1080000" cy="503999"/>
          </a:xfrm>
          <a:prstGeom prst="rect">
            <a:avLst/>
          </a:prstGeom>
          <a:solidFill>
            <a:srgbClr val="0A1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80000" y="936000"/>
            <a:ext cx="1080000" cy="503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Score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60000" y="936000"/>
            <a:ext cx="5004000" cy="503999"/>
          </a:xfrm>
          <a:prstGeom prst="rect">
            <a:avLst/>
          </a:prstGeom>
          <a:solidFill>
            <a:srgbClr val="0A1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60000" y="936000"/>
            <a:ext cx="5004000" cy="503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Mitigazione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0000" y="1439999"/>
            <a:ext cx="360000" cy="503999"/>
          </a:xfrm>
          <a:prstGeom prst="rect">
            <a:avLst/>
          </a:prstGeom>
          <a:solidFill>
            <a:srgbClr val="FFFFFF"/>
          </a:solidFill>
          <a:ln w="9525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6000" y="1439999"/>
            <a:ext cx="288000" cy="503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 i="0">
                <a:solidFill>
                  <a:srgbClr val="0A1A3D"/>
                </a:solidFill>
                <a:latin typeface="Calibri"/>
              </a:rPr>
              <a:t>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0000" y="1439999"/>
            <a:ext cx="1080000" cy="503999"/>
          </a:xfrm>
          <a:prstGeom prst="rect">
            <a:avLst/>
          </a:prstGeom>
          <a:solidFill>
            <a:srgbClr val="FFFFFF"/>
          </a:solidFill>
          <a:ln w="9525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6000" y="1439999"/>
            <a:ext cx="1008000" cy="503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0A1A3D"/>
                </a:solidFill>
                <a:latin typeface="Calibri"/>
              </a:rPr>
              <a:t>RSK-TEC-001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980000" y="1439999"/>
            <a:ext cx="3600000" cy="503999"/>
          </a:xfrm>
          <a:prstGeom prst="rect">
            <a:avLst/>
          </a:prstGeom>
          <a:solidFill>
            <a:srgbClr val="FFFFFF"/>
          </a:solidFill>
          <a:ln w="9525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016000" y="1439999"/>
            <a:ext cx="3528000" cy="503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0A1A3D"/>
                </a:solidFill>
                <a:latin typeface="Calibri"/>
              </a:rPr>
              <a:t>Tecnico, energy balance HALE inverno 44°N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580000" y="1439999"/>
            <a:ext cx="1080000" cy="503999"/>
          </a:xfrm>
          <a:prstGeom prst="rect">
            <a:avLst/>
          </a:prstGeom>
          <a:solidFill>
            <a:srgbClr val="FFFFFF"/>
          </a:solidFill>
          <a:ln w="9525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16000" y="1439999"/>
            <a:ext cx="1008000" cy="503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 i="0">
                <a:solidFill>
                  <a:srgbClr val="C03333"/>
                </a:solidFill>
                <a:latin typeface="Calibri"/>
              </a:rPr>
              <a:t>25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60000" y="1439999"/>
            <a:ext cx="5004000" cy="503999"/>
          </a:xfrm>
          <a:prstGeom prst="rect">
            <a:avLst/>
          </a:prstGeom>
          <a:solidFill>
            <a:srgbClr val="FFFFFF"/>
          </a:solidFill>
          <a:ln w="9525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96000" y="1439999"/>
            <a:ext cx="4932000" cy="503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0A1A3D"/>
                </a:solidFill>
                <a:latin typeface="Calibri"/>
              </a:rPr>
              <a:t>E5 Seasonal-only marzo-ottobre mandatory Plan A; -50.1% deficit confermato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0000" y="1943998"/>
            <a:ext cx="360000" cy="503999"/>
          </a:xfrm>
          <a:prstGeom prst="rect">
            <a:avLst/>
          </a:prstGeom>
          <a:solidFill>
            <a:srgbClr val="F4F4F6"/>
          </a:solidFill>
          <a:ln w="9525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6000" y="1943998"/>
            <a:ext cx="288000" cy="503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 i="0">
                <a:solidFill>
                  <a:srgbClr val="0A1A3D"/>
                </a:solidFill>
                <a:latin typeface="Calibri"/>
              </a:rPr>
              <a:t>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00000" y="1943998"/>
            <a:ext cx="1080000" cy="503999"/>
          </a:xfrm>
          <a:prstGeom prst="rect">
            <a:avLst/>
          </a:prstGeom>
          <a:solidFill>
            <a:srgbClr val="F4F4F6"/>
          </a:solidFill>
          <a:ln w="9525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6000" y="1943998"/>
            <a:ext cx="1008000" cy="503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0A1A3D"/>
                </a:solidFill>
                <a:latin typeface="Calibri"/>
              </a:rPr>
              <a:t>RSK-REG-001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980000" y="1943998"/>
            <a:ext cx="3600000" cy="503999"/>
          </a:xfrm>
          <a:prstGeom prst="rect">
            <a:avLst/>
          </a:prstGeom>
          <a:solidFill>
            <a:srgbClr val="F4F4F6"/>
          </a:solidFill>
          <a:ln w="9525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016000" y="1943998"/>
            <a:ext cx="3528000" cy="503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0A1A3D"/>
                </a:solidFill>
                <a:latin typeface="Calibri"/>
              </a:rPr>
              <a:t>Regolatorio, framework HAPS EU mancante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580000" y="1943998"/>
            <a:ext cx="1080000" cy="503999"/>
          </a:xfrm>
          <a:prstGeom prst="rect">
            <a:avLst/>
          </a:prstGeom>
          <a:solidFill>
            <a:srgbClr val="F4F4F6"/>
          </a:solidFill>
          <a:ln w="9525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616000" y="1943998"/>
            <a:ext cx="1008000" cy="503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 i="0">
                <a:solidFill>
                  <a:srgbClr val="C03333"/>
                </a:solidFill>
                <a:latin typeface="Calibri"/>
              </a:rPr>
              <a:t>20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660000" y="1943998"/>
            <a:ext cx="5004000" cy="503999"/>
          </a:xfrm>
          <a:prstGeom prst="rect">
            <a:avLst/>
          </a:prstGeom>
          <a:solidFill>
            <a:srgbClr val="F4F4F6"/>
          </a:solidFill>
          <a:ln w="9525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96000" y="1943998"/>
            <a:ext cx="4932000" cy="503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0A1A3D"/>
                </a:solidFill>
                <a:latin typeface="Calibri"/>
              </a:rPr>
              <a:t>Engagement EASA Innovation Network + RMT HAPS request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0000" y="2447997"/>
            <a:ext cx="360000" cy="503999"/>
          </a:xfrm>
          <a:prstGeom prst="rect">
            <a:avLst/>
          </a:prstGeom>
          <a:solidFill>
            <a:srgbClr val="FFFFFF"/>
          </a:solidFill>
          <a:ln w="9525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76000" y="2447997"/>
            <a:ext cx="288000" cy="503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 i="0">
                <a:solidFill>
                  <a:srgbClr val="0A1A3D"/>
                </a:solidFill>
                <a:latin typeface="Calibri"/>
              </a:rPr>
              <a:t>3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00000" y="2447997"/>
            <a:ext cx="1080000" cy="503999"/>
          </a:xfrm>
          <a:prstGeom prst="rect">
            <a:avLst/>
          </a:prstGeom>
          <a:solidFill>
            <a:srgbClr val="FFFFFF"/>
          </a:solidFill>
          <a:ln w="9525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36000" y="2447997"/>
            <a:ext cx="1008000" cy="503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0A1A3D"/>
                </a:solidFill>
                <a:latin typeface="Calibri"/>
              </a:rPr>
              <a:t>RSK-FIN-001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980000" y="2447997"/>
            <a:ext cx="3600000" cy="503999"/>
          </a:xfrm>
          <a:prstGeom prst="rect">
            <a:avLst/>
          </a:prstGeom>
          <a:solidFill>
            <a:srgbClr val="FFFFFF"/>
          </a:solidFill>
          <a:ln w="9525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016000" y="2447997"/>
            <a:ext cx="3528000" cy="503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0A1A3D"/>
                </a:solidFill>
                <a:latin typeface="Calibri"/>
              </a:rPr>
              <a:t>Finanziario, Phase B €5.5-13.5M non committed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580000" y="2447997"/>
            <a:ext cx="1080000" cy="503999"/>
          </a:xfrm>
          <a:prstGeom prst="rect">
            <a:avLst/>
          </a:prstGeom>
          <a:solidFill>
            <a:srgbClr val="FFFFFF"/>
          </a:solidFill>
          <a:ln w="9525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616000" y="2447997"/>
            <a:ext cx="1008000" cy="503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 i="0">
                <a:solidFill>
                  <a:srgbClr val="C03333"/>
                </a:solidFill>
                <a:latin typeface="Calibri"/>
              </a:rPr>
              <a:t>20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660000" y="2447997"/>
            <a:ext cx="5004000" cy="503999"/>
          </a:xfrm>
          <a:prstGeom prst="rect">
            <a:avLst/>
          </a:prstGeom>
          <a:solidFill>
            <a:srgbClr val="FFFFFF"/>
          </a:solidFill>
          <a:ln w="9525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696000" y="2447997"/>
            <a:ext cx="4932000" cy="503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0A1A3D"/>
                </a:solidFill>
                <a:latin typeface="Calibri"/>
              </a:rPr>
              <a:t>Mix funding 50%+ pubblico + Series A/B €5-15M raised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40000" y="2951996"/>
            <a:ext cx="360000" cy="503999"/>
          </a:xfrm>
          <a:prstGeom prst="rect">
            <a:avLst/>
          </a:prstGeom>
          <a:solidFill>
            <a:srgbClr val="F4F4F6"/>
          </a:solidFill>
          <a:ln w="9525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76000" y="2951996"/>
            <a:ext cx="288000" cy="503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 i="0">
                <a:solidFill>
                  <a:srgbClr val="0A1A3D"/>
                </a:solidFill>
                <a:latin typeface="Calibri"/>
              </a:rPr>
              <a:t>4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00000" y="2951996"/>
            <a:ext cx="1080000" cy="503999"/>
          </a:xfrm>
          <a:prstGeom prst="rect">
            <a:avLst/>
          </a:prstGeom>
          <a:solidFill>
            <a:srgbClr val="F4F4F6"/>
          </a:solidFill>
          <a:ln w="9525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36000" y="2951996"/>
            <a:ext cx="1008000" cy="503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0A1A3D"/>
                </a:solidFill>
                <a:latin typeface="Calibri"/>
              </a:rPr>
              <a:t>RSK-TEC-002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980000" y="2951996"/>
            <a:ext cx="3600000" cy="503999"/>
          </a:xfrm>
          <a:prstGeom prst="rect">
            <a:avLst/>
          </a:prstGeom>
          <a:solidFill>
            <a:srgbClr val="F4F4F6"/>
          </a:solidFill>
          <a:ln w="9525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016000" y="2951996"/>
            <a:ext cx="3528000" cy="503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0A1A3D"/>
                </a:solidFill>
                <a:latin typeface="Calibri"/>
              </a:rPr>
              <a:t>Tecnico, aeroelasticita ala high-AR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580000" y="2951996"/>
            <a:ext cx="1080000" cy="503999"/>
          </a:xfrm>
          <a:prstGeom prst="rect">
            <a:avLst/>
          </a:prstGeom>
          <a:solidFill>
            <a:srgbClr val="F4F4F6"/>
          </a:solidFill>
          <a:ln w="9525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616000" y="2951996"/>
            <a:ext cx="1008000" cy="503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 i="0">
                <a:solidFill>
                  <a:srgbClr val="C03333"/>
                </a:solidFill>
                <a:latin typeface="Calibri"/>
              </a:rPr>
              <a:t>15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660000" y="2951996"/>
            <a:ext cx="5004000" cy="503999"/>
          </a:xfrm>
          <a:prstGeom prst="rect">
            <a:avLst/>
          </a:prstGeom>
          <a:solidFill>
            <a:srgbClr val="F4F4F6"/>
          </a:solidFill>
          <a:ln w="9525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696000" y="2951996"/>
            <a:ext cx="4932000" cy="503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0A1A3D"/>
                </a:solidFill>
                <a:latin typeface="Calibri"/>
              </a:rPr>
              <a:t>Aeroelastic analysis preliminare M+10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40000" y="3455995"/>
            <a:ext cx="360000" cy="503999"/>
          </a:xfrm>
          <a:prstGeom prst="rect">
            <a:avLst/>
          </a:prstGeom>
          <a:solidFill>
            <a:srgbClr val="FFFFFF"/>
          </a:solidFill>
          <a:ln w="9525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6000" y="3455995"/>
            <a:ext cx="288000" cy="503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 i="0">
                <a:solidFill>
                  <a:srgbClr val="0A1A3D"/>
                </a:solidFill>
                <a:latin typeface="Calibri"/>
              </a:rPr>
              <a:t>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00000" y="3455995"/>
            <a:ext cx="1080000" cy="503999"/>
          </a:xfrm>
          <a:prstGeom prst="rect">
            <a:avLst/>
          </a:prstGeom>
          <a:solidFill>
            <a:srgbClr val="FFFFFF"/>
          </a:solidFill>
          <a:ln w="9525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36000" y="3455995"/>
            <a:ext cx="1008000" cy="503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0A1A3D"/>
                </a:solidFill>
                <a:latin typeface="Calibri"/>
              </a:rPr>
              <a:t>RSK-TEC-003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980000" y="3455995"/>
            <a:ext cx="3600000" cy="503999"/>
          </a:xfrm>
          <a:prstGeom prst="rect">
            <a:avLst/>
          </a:prstGeom>
          <a:solidFill>
            <a:srgbClr val="FFFFFF"/>
          </a:solidFill>
          <a:ln w="9525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016000" y="3455995"/>
            <a:ext cx="3528000" cy="503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0A1A3D"/>
                </a:solidFill>
                <a:latin typeface="Calibri"/>
              </a:rPr>
              <a:t>Tecnico, Type Certification HALE &gt; 5 anni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580000" y="3455995"/>
            <a:ext cx="1080000" cy="503999"/>
          </a:xfrm>
          <a:prstGeom prst="rect">
            <a:avLst/>
          </a:prstGeom>
          <a:solidFill>
            <a:srgbClr val="FFFFFF"/>
          </a:solidFill>
          <a:ln w="9525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616000" y="3455995"/>
            <a:ext cx="1008000" cy="503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 i="0">
                <a:solidFill>
                  <a:srgbClr val="C03333"/>
                </a:solidFill>
                <a:latin typeface="Calibri"/>
              </a:rPr>
              <a:t>16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660000" y="3455995"/>
            <a:ext cx="5004000" cy="503999"/>
          </a:xfrm>
          <a:prstGeom prst="rect">
            <a:avLst/>
          </a:prstGeom>
          <a:solidFill>
            <a:srgbClr val="FFFFFF"/>
          </a:solidFill>
          <a:ln w="9525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696000" y="3455995"/>
            <a:ext cx="4932000" cy="503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0A1A3D"/>
                </a:solidFill>
                <a:latin typeface="Calibri"/>
              </a:rPr>
              <a:t>Special Condition negoziata caso per caso EASA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40000" y="4140000"/>
            <a:ext cx="5400000" cy="251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i="0">
                <a:solidFill>
                  <a:srgbClr val="0A1A3D"/>
                </a:solidFill>
                <a:latin typeface="Calibri"/>
              </a:rPr>
              <a:t>Risk reduction baseline → post-mitigation: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0000" y="4428000"/>
            <a:ext cx="10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0A1A3D"/>
                </a:solidFill>
                <a:latin typeface="Calibri"/>
              </a:rPr>
              <a:t>Pre-mitigation: RED 17 . YELLOW 66 . GREEN 33 (su 116 rischi baseline v1.0). Post-mitigation residual: RED 2 . YELLOW 19 . GREEN 95. RED reduction 88% (17 → 2). YELLOW reduction 71% (66 → 19). Aggiornamento v1.5: integrazione 3 RSK-AMB ambientali post A.12 VIA v2.0 → totale 119 rischi in 14 categorie.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432000"/>
          </a:xfrm>
          <a:prstGeom prst="rect">
            <a:avLst/>
          </a:prstGeom>
          <a:solidFill>
            <a:srgbClr val="0A1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32000"/>
            <a:ext cx="12192119" cy="43200"/>
          </a:xfrm>
          <a:prstGeom prst="rect">
            <a:avLst/>
          </a:prstGeom>
          <a:solidFill>
            <a:srgbClr val="F0C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Firmamento Technolog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000" y="54000"/>
            <a:ext cx="612527" cy="34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340000" y="90000"/>
            <a:ext cx="7200000" cy="30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Visione 10 anni, posizionamento sovrano EU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40000" y="90000"/>
            <a:ext cx="1620000" cy="30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 i="1">
                <a:solidFill>
                  <a:srgbClr val="F0C95C"/>
                </a:solidFill>
                <a:latin typeface="Calibri"/>
              </a:rPr>
              <a:t>12 / 14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6001"/>
            <a:ext cx="12192119" cy="18000"/>
          </a:xfrm>
          <a:prstGeom prst="rect">
            <a:avLst/>
          </a:prstGeom>
          <a:solidFill>
            <a:srgbClr val="F0C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0000" y="6642000"/>
            <a:ext cx="11832119" cy="1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 i="1">
                <a:solidFill>
                  <a:srgbClr val="3A3A3A"/>
                </a:solidFill>
                <a:latin typeface="Calibri"/>
              </a:rPr>
              <a:t>Firmamento Technologies Soc. Coop. . P.IVA IT03038500991 . Via Brigata Liguria 105 R, Genova . PEC firmamentotechnologies@pec.it</a:t>
            </a:r>
          </a:p>
        </p:txBody>
      </p:sp>
      <p:sp>
        <p:nvSpPr>
          <p:cNvPr id="9" name="Rectangle 8"/>
          <p:cNvSpPr/>
          <p:nvPr/>
        </p:nvSpPr>
        <p:spPr>
          <a:xfrm>
            <a:off x="720000" y="1007999"/>
            <a:ext cx="1440000" cy="720000"/>
          </a:xfrm>
          <a:prstGeom prst="rect">
            <a:avLst/>
          </a:prstGeom>
          <a:solidFill>
            <a:srgbClr val="0A1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0000" y="1007999"/>
            <a:ext cx="1440000" cy="7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Y1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40000" y="1007999"/>
            <a:ext cx="3600000" cy="7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i="0">
                <a:solidFill>
                  <a:srgbClr val="0A1A3D"/>
                </a:solidFill>
                <a:latin typeface="Calibri"/>
              </a:rPr>
              <a:t>Pilota Pentema VTOL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0000" y="1007999"/>
            <a:ext cx="5400000" cy="7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3A3A3A"/>
                </a:solidFill>
                <a:latin typeface="Calibri"/>
              </a:rPr>
              <a:t>Pilot validato + revenue €260k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20000" y="1835998"/>
            <a:ext cx="1440000" cy="720000"/>
          </a:xfrm>
          <a:prstGeom prst="rect">
            <a:avLst/>
          </a:prstGeom>
          <a:solidFill>
            <a:srgbClr val="0A1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0000" y="1835998"/>
            <a:ext cx="1440000" cy="7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Y2-Y3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40000" y="1835998"/>
            <a:ext cx="3600000" cy="7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i="0">
                <a:solidFill>
                  <a:srgbClr val="0A1A3D"/>
                </a:solidFill>
                <a:latin typeface="Calibri"/>
              </a:rPr>
              <a:t>Scale-up SNAI Italia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0000" y="1835998"/>
            <a:ext cx="5400000" cy="7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3A3A3A"/>
                </a:solidFill>
                <a:latin typeface="Calibri"/>
              </a:rPr>
              <a:t>3-4 regioni, flotta 3-8 VTOL/MALE + R&amp;D HALE subscale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0000" y="2663997"/>
            <a:ext cx="1440000" cy="720000"/>
          </a:xfrm>
          <a:prstGeom prst="rect">
            <a:avLst/>
          </a:prstGeom>
          <a:solidFill>
            <a:srgbClr val="0A1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0000" y="2663997"/>
            <a:ext cx="1440000" cy="7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Y3-Y6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40000" y="2663997"/>
            <a:ext cx="3600000" cy="7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i="0">
                <a:solidFill>
                  <a:srgbClr val="0A1A3D"/>
                </a:solidFill>
                <a:latin typeface="Calibri"/>
              </a:rPr>
              <a:t>Primo HALE prototipo italiano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0000" y="2663997"/>
            <a:ext cx="5400000" cy="7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3A3A3A"/>
                </a:solidFill>
                <a:latin typeface="Calibri"/>
              </a:rPr>
              <a:t>Servizio commerciale HAPS pilota + Series A-B raised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0000" y="3491996"/>
            <a:ext cx="1440000" cy="720000"/>
          </a:xfrm>
          <a:prstGeom prst="rect">
            <a:avLst/>
          </a:prstGeom>
          <a:solidFill>
            <a:srgbClr val="0A1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0000" y="3491996"/>
            <a:ext cx="1440000" cy="7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Y6-Y8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40000" y="3491996"/>
            <a:ext cx="3600000" cy="7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i="0">
                <a:solidFill>
                  <a:srgbClr val="0A1A3D"/>
                </a:solidFill>
                <a:latin typeface="Calibri"/>
              </a:rPr>
              <a:t>Costellazione italiana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0000" y="3491996"/>
            <a:ext cx="5400000" cy="7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3A3A3A"/>
                </a:solidFill>
                <a:latin typeface="Calibri"/>
              </a:rPr>
              <a:t>3-10 HAPS operativi + servizi NTN + EO persistente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0000" y="4319995"/>
            <a:ext cx="1440000" cy="720000"/>
          </a:xfrm>
          <a:prstGeom prst="rect">
            <a:avLst/>
          </a:prstGeom>
          <a:solidFill>
            <a:srgbClr val="F0C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0000" y="4319995"/>
            <a:ext cx="1440000" cy="7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i="0">
                <a:solidFill>
                  <a:srgbClr val="0A1A3D"/>
                </a:solidFill>
                <a:latin typeface="Calibri"/>
              </a:rPr>
              <a:t>Y8-Y10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40000" y="4319995"/>
            <a:ext cx="3600000" cy="7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i="0">
                <a:solidFill>
                  <a:srgbClr val="0A1A3D"/>
                </a:solidFill>
                <a:latin typeface="Calibri"/>
              </a:rPr>
              <a:t>Consorzio EU stratospheric layer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20000" y="4319995"/>
            <a:ext cx="5400000" cy="7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3A3A3A"/>
                </a:solidFill>
                <a:latin typeface="Calibri"/>
              </a:rPr>
              <a:t>Italia + FR/DE/ES + posizionamento EU sovereign complementare IRIS²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0000" y="5292000"/>
            <a:ext cx="11124000" cy="648000"/>
          </a:xfrm>
          <a:prstGeom prst="rect">
            <a:avLst/>
          </a:prstGeom>
          <a:solidFill>
            <a:srgbClr val="FDF8E8"/>
          </a:solidFill>
          <a:ln w="9525">
            <a:solidFill>
              <a:srgbClr val="F0C9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20000" y="5328000"/>
            <a:ext cx="10800000" cy="57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1">
                <a:solidFill>
                  <a:srgbClr val="0A1A3D"/>
                </a:solidFill>
                <a:latin typeface="Calibri"/>
              </a:rPr>
              <a:t>Linguaggio pubblico raccomandato: "complementare a IRIS²", mai "alternativa europea a Starlink". IRIS² baseline LEO+MEO puro (DR-009 closure), governance SpaceRISE, lancio 2029, ops 2031. Finestra strategica Firmamento 2027-2030 per posizionamento stratospheric gap-filler via DG CNECT engagement.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432000"/>
          </a:xfrm>
          <a:prstGeom prst="rect">
            <a:avLst/>
          </a:prstGeom>
          <a:solidFill>
            <a:srgbClr val="0A1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32000"/>
            <a:ext cx="12192119" cy="43200"/>
          </a:xfrm>
          <a:prstGeom prst="rect">
            <a:avLst/>
          </a:prstGeom>
          <a:solidFill>
            <a:srgbClr val="F0C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Firmamento Technolog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000" y="54000"/>
            <a:ext cx="612527" cy="34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340000" y="90000"/>
            <a:ext cx="7200000" cy="30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Decisione formale richiesta al CdA + sponsor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40000" y="90000"/>
            <a:ext cx="1620000" cy="30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 i="1">
                <a:solidFill>
                  <a:srgbClr val="F0C95C"/>
                </a:solidFill>
                <a:latin typeface="Calibri"/>
              </a:rPr>
              <a:t>13 / 14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6001"/>
            <a:ext cx="12192119" cy="18000"/>
          </a:xfrm>
          <a:prstGeom prst="rect">
            <a:avLst/>
          </a:prstGeom>
          <a:solidFill>
            <a:srgbClr val="F0C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0000" y="6642000"/>
            <a:ext cx="11832119" cy="1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 i="1">
                <a:solidFill>
                  <a:srgbClr val="3A3A3A"/>
                </a:solidFill>
                <a:latin typeface="Calibri"/>
              </a:rPr>
              <a:t>Firmamento Technologies Soc. Coop. . P.IVA IT03038500991 . Via Brigata Liguria 105 R, Genova . PEC firmamentotechnologies@pec.it</a:t>
            </a:r>
          </a:p>
        </p:txBody>
      </p:sp>
      <p:sp>
        <p:nvSpPr>
          <p:cNvPr id="9" name="Rectangle 8"/>
          <p:cNvSpPr/>
          <p:nvPr/>
        </p:nvSpPr>
        <p:spPr>
          <a:xfrm>
            <a:off x="648000" y="990000"/>
            <a:ext cx="251999" cy="251999"/>
          </a:xfrm>
          <a:prstGeom prst="rect">
            <a:avLst/>
          </a:prstGeom>
          <a:solidFill>
            <a:srgbClr val="FFFFFF"/>
          </a:solidFill>
          <a:ln w="9525">
            <a:solidFill>
              <a:srgbClr val="0A1A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80000" y="936000"/>
            <a:ext cx="54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i="0">
                <a:solidFill>
                  <a:srgbClr val="F0C95C"/>
                </a:solidFill>
                <a:latin typeface="Calibri"/>
              </a:rPr>
              <a:t>1.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936000"/>
            <a:ext cx="1008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0A1A3D"/>
                </a:solidFill>
                <a:latin typeface="Calibri"/>
              </a:rPr>
              <a:t>Approvare Studio di Fattibilita Vol. 1 + 2 + 3 (versione M+11 bozza)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8000" y="1403999"/>
            <a:ext cx="251999" cy="251999"/>
          </a:xfrm>
          <a:prstGeom prst="rect">
            <a:avLst/>
          </a:prstGeom>
          <a:solidFill>
            <a:srgbClr val="FFFFFF"/>
          </a:solidFill>
          <a:ln w="9525">
            <a:solidFill>
              <a:srgbClr val="0A1A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000" y="1349999"/>
            <a:ext cx="54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i="0">
                <a:solidFill>
                  <a:srgbClr val="F0C95C"/>
                </a:solidFill>
                <a:latin typeface="Calibri"/>
              </a:rPr>
              <a:t>2.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1349999"/>
            <a:ext cx="1008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0A1A3D"/>
                </a:solidFill>
                <a:latin typeface="Calibri"/>
              </a:rPr>
              <a:t>Approvare GO CONDIZIONATO Percorso 6A con 5 hard conditions M+10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8000" y="1817998"/>
            <a:ext cx="251999" cy="251999"/>
          </a:xfrm>
          <a:prstGeom prst="rect">
            <a:avLst/>
          </a:prstGeom>
          <a:solidFill>
            <a:srgbClr val="FFFFFF"/>
          </a:solidFill>
          <a:ln w="9525">
            <a:solidFill>
              <a:srgbClr val="0A1A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80000" y="1763998"/>
            <a:ext cx="54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i="0">
                <a:solidFill>
                  <a:srgbClr val="F0C95C"/>
                </a:solidFill>
                <a:latin typeface="Calibri"/>
              </a:rPr>
              <a:t>3.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1763998"/>
            <a:ext cx="1008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0A1A3D"/>
                </a:solidFill>
                <a:latin typeface="Calibri"/>
              </a:rPr>
              <a:t>Approvare HOLD Percorso 6B + pivot strutturale verso prime contractor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8000" y="2231997"/>
            <a:ext cx="251999" cy="251999"/>
          </a:xfrm>
          <a:prstGeom prst="rect">
            <a:avLst/>
          </a:prstGeom>
          <a:solidFill>
            <a:srgbClr val="FFFFFF"/>
          </a:solidFill>
          <a:ln w="9525">
            <a:solidFill>
              <a:srgbClr val="0A1A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80000" y="2177997"/>
            <a:ext cx="54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i="0">
                <a:solidFill>
                  <a:srgbClr val="F0C95C"/>
                </a:solidFill>
                <a:latin typeface="Calibri"/>
              </a:rPr>
              <a:t>4.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20000" y="2177997"/>
            <a:ext cx="1008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0A1A3D"/>
                </a:solidFill>
                <a:latin typeface="Calibri"/>
              </a:rPr>
              <a:t>Approvare budget Y1 €2.5-3.5M (CapEx + OpEx + bridge financing + regulatory team)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8000" y="2645996"/>
            <a:ext cx="251999" cy="251999"/>
          </a:xfrm>
          <a:prstGeom prst="rect">
            <a:avLst/>
          </a:prstGeom>
          <a:solidFill>
            <a:srgbClr val="FFFFFF"/>
          </a:solidFill>
          <a:ln w="9525">
            <a:solidFill>
              <a:srgbClr val="0A1A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80000" y="2591996"/>
            <a:ext cx="54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i="0">
                <a:solidFill>
                  <a:srgbClr val="F0C95C"/>
                </a:solidFill>
                <a:latin typeface="Calibri"/>
              </a:rPr>
              <a:t>5.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20000" y="2591996"/>
            <a:ext cx="1008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0A1A3D"/>
                </a:solidFill>
                <a:latin typeface="Calibri"/>
              </a:rPr>
              <a:t>Approvare doppio binario di pianificazione (nominale + sliding §9.12)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8000" y="3059995"/>
            <a:ext cx="251999" cy="251999"/>
          </a:xfrm>
          <a:prstGeom prst="rect">
            <a:avLst/>
          </a:prstGeom>
          <a:solidFill>
            <a:srgbClr val="FFFFFF"/>
          </a:solidFill>
          <a:ln w="9525">
            <a:solidFill>
              <a:srgbClr val="0A1A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80000" y="3005995"/>
            <a:ext cx="54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i="0">
                <a:solidFill>
                  <a:srgbClr val="F0C95C"/>
                </a:solidFill>
                <a:latin typeface="Calibri"/>
              </a:rPr>
              <a:t>6.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20000" y="3005995"/>
            <a:ext cx="1008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0A1A3D"/>
                </a:solidFill>
                <a:latin typeface="Calibri"/>
              </a:rPr>
              <a:t>Approvare assunzione 3 FTE regulatory (CISO + DPO + Head Regulatory) entro M+6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8000" y="3473994"/>
            <a:ext cx="251999" cy="251999"/>
          </a:xfrm>
          <a:prstGeom prst="rect">
            <a:avLst/>
          </a:prstGeom>
          <a:solidFill>
            <a:srgbClr val="FFFFFF"/>
          </a:solidFill>
          <a:ln w="9525">
            <a:solidFill>
              <a:srgbClr val="0A1A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80000" y="3419994"/>
            <a:ext cx="54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i="0">
                <a:solidFill>
                  <a:srgbClr val="F0C95C"/>
                </a:solidFill>
                <a:latin typeface="Calibri"/>
              </a:rPr>
              <a:t>7.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20000" y="3419994"/>
            <a:ext cx="1008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0A1A3D"/>
                </a:solidFill>
                <a:latin typeface="Calibri"/>
              </a:rPr>
              <a:t>Approvare engagement Regione Liguria + Coopfond + Comune Torriglia + cooperative entro M+6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8000" y="3887993"/>
            <a:ext cx="251999" cy="251999"/>
          </a:xfrm>
          <a:prstGeom prst="rect">
            <a:avLst/>
          </a:prstGeom>
          <a:solidFill>
            <a:srgbClr val="FFFFFF"/>
          </a:solidFill>
          <a:ln w="9525">
            <a:solidFill>
              <a:srgbClr val="0A1A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80000" y="3833993"/>
            <a:ext cx="54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i="0">
                <a:solidFill>
                  <a:srgbClr val="F0C95C"/>
                </a:solidFill>
                <a:latin typeface="Calibri"/>
              </a:rPr>
              <a:t>8.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20000" y="3833993"/>
            <a:ext cx="1008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0A1A3D"/>
                </a:solidFill>
                <a:latin typeface="Calibri"/>
              </a:rPr>
              <a:t>Approvare re-baseline Gate G3-bis a M+13-16 come opzione legittima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0000" y="4860000"/>
            <a:ext cx="5400000" cy="21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0A1A3D"/>
                </a:solidFill>
                <a:latin typeface="Calibri"/>
              </a:rPr>
              <a:t>Firma CEO Firmamento: ___________________________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20000" y="4860000"/>
            <a:ext cx="5400000" cy="21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0A1A3D"/>
                </a:solidFill>
                <a:latin typeface="Calibri"/>
              </a:rPr>
              <a:t>Firma CdA: ___________________________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0000" y="5148000"/>
            <a:ext cx="5400000" cy="21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0A1A3D"/>
                </a:solidFill>
                <a:latin typeface="Calibri"/>
              </a:rPr>
              <a:t>Firma Sponsor Coopfond: ___________________________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20000" y="5148000"/>
            <a:ext cx="5400000" cy="21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0A1A3D"/>
                </a:solidFill>
                <a:latin typeface="Calibri"/>
              </a:rPr>
              <a:t>Firma Sponsor Regione Liguria: ___________________________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0000" y="5580000"/>
            <a:ext cx="11160000" cy="251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1">
                <a:solidFill>
                  <a:srgbClr val="3A3A3A"/>
                </a:solidFill>
                <a:latin typeface="Calibri"/>
              </a:rPr>
              <a:t>Data delibera: __________________ . Documento di approvazione M+11 . Maggio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432000"/>
          </a:xfrm>
          <a:prstGeom prst="rect">
            <a:avLst/>
          </a:prstGeom>
          <a:solidFill>
            <a:srgbClr val="0A1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32000"/>
            <a:ext cx="12192119" cy="43200"/>
          </a:xfrm>
          <a:prstGeom prst="rect">
            <a:avLst/>
          </a:prstGeom>
          <a:solidFill>
            <a:srgbClr val="F0C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Firmamento Technolog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000" y="54000"/>
            <a:ext cx="612527" cy="34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340000" y="90000"/>
            <a:ext cx="7200000" cy="30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Top-10 Action Items prioritari Y0-Y1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40000" y="90000"/>
            <a:ext cx="1620000" cy="30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 i="1">
                <a:solidFill>
                  <a:srgbClr val="F0C95C"/>
                </a:solidFill>
                <a:latin typeface="Calibri"/>
              </a:rPr>
              <a:t>14 / 14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6001"/>
            <a:ext cx="12192119" cy="18000"/>
          </a:xfrm>
          <a:prstGeom prst="rect">
            <a:avLst/>
          </a:prstGeom>
          <a:solidFill>
            <a:srgbClr val="F0C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0000" y="6642000"/>
            <a:ext cx="11832119" cy="1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 i="1">
                <a:solidFill>
                  <a:srgbClr val="3A3A3A"/>
                </a:solidFill>
                <a:latin typeface="Calibri"/>
              </a:rPr>
              <a:t>Firmamento Technologies Soc. Coop. . P.IVA IT03038500991 . Via Brigata Liguria 105 R, Genova . PEC firmamentotechnologies@pec.it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0000" y="900000"/>
            <a:ext cx="540000" cy="324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400" b="1" i="0">
                <a:solidFill>
                  <a:srgbClr val="F0C95C"/>
                </a:solidFill>
                <a:latin typeface="Calibri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60000" y="900000"/>
            <a:ext cx="8640000" cy="324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0A1A3D"/>
                </a:solidFill>
                <a:latin typeface="Calibri"/>
              </a:rPr>
              <a:t>Capital structure resistente (founder ≥ 51% + golden share + anti-acquisition)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80000" y="918000"/>
            <a:ext cx="1440000" cy="288000"/>
          </a:xfrm>
          <a:prstGeom prst="rect">
            <a:avLst/>
          </a:prstGeom>
          <a:solidFill>
            <a:srgbClr val="0A1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0000" y="918000"/>
            <a:ext cx="1440000" cy="28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 i="0">
                <a:solidFill>
                  <a:srgbClr val="F0C95C"/>
                </a:solidFill>
                <a:latin typeface="Calibri"/>
              </a:rPr>
              <a:t>M+6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0000" y="1278000"/>
            <a:ext cx="540000" cy="324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400" b="1" i="0">
                <a:solidFill>
                  <a:srgbClr val="F0C95C"/>
                </a:solidFill>
                <a:latin typeface="Calibri"/>
              </a:rPr>
              <a:t>2.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60000" y="1278000"/>
            <a:ext cx="8640000" cy="324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0A1A3D"/>
                </a:solidFill>
                <a:latin typeface="Calibri"/>
              </a:rPr>
              <a:t>LoI Regione Liguria firmata con DGR specifica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080000" y="1296000"/>
            <a:ext cx="1440000" cy="288000"/>
          </a:xfrm>
          <a:prstGeom prst="rect">
            <a:avLst/>
          </a:prstGeom>
          <a:solidFill>
            <a:srgbClr val="0A1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80000" y="1296000"/>
            <a:ext cx="1440000" cy="28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 i="0">
                <a:solidFill>
                  <a:srgbClr val="F0C95C"/>
                </a:solidFill>
                <a:latin typeface="Calibri"/>
              </a:rPr>
              <a:t>M+6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0000" y="1656000"/>
            <a:ext cx="540000" cy="324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400" b="1" i="0">
                <a:solidFill>
                  <a:srgbClr val="F0C95C"/>
                </a:solidFill>
                <a:latin typeface="Calibri"/>
              </a:rPr>
              <a:t>3.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60000" y="1656000"/>
            <a:ext cx="8640000" cy="324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0A1A3D"/>
                </a:solidFill>
                <a:latin typeface="Calibri"/>
              </a:rPr>
              <a:t>Pre-application meeting ENAC + feedback documentato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080000" y="1674000"/>
            <a:ext cx="1440000" cy="288000"/>
          </a:xfrm>
          <a:prstGeom prst="rect">
            <a:avLst/>
          </a:prstGeom>
          <a:solidFill>
            <a:srgbClr val="0A1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80000" y="1674000"/>
            <a:ext cx="1440000" cy="28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 i="0">
                <a:solidFill>
                  <a:srgbClr val="F0C95C"/>
                </a:solidFill>
                <a:latin typeface="Calibri"/>
              </a:rPr>
              <a:t>M+3-6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0000" y="2034000"/>
            <a:ext cx="540000" cy="324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400" b="1" i="0">
                <a:solidFill>
                  <a:srgbClr val="F0C95C"/>
                </a:solidFill>
                <a:latin typeface="Calibri"/>
              </a:rPr>
              <a:t>4.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60000" y="2034000"/>
            <a:ext cx="8640000" cy="324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0A1A3D"/>
                </a:solidFill>
                <a:latin typeface="Calibri"/>
              </a:rPr>
              <a:t>Workshop pubblico comunita Pentema (14 abitanti) + DPIA pubblica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080000" y="2052000"/>
            <a:ext cx="1440000" cy="288000"/>
          </a:xfrm>
          <a:prstGeom prst="rect">
            <a:avLst/>
          </a:prstGeom>
          <a:solidFill>
            <a:srgbClr val="0A1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80000" y="2052000"/>
            <a:ext cx="1440000" cy="28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 i="0">
                <a:solidFill>
                  <a:srgbClr val="F0C95C"/>
                </a:solidFill>
                <a:latin typeface="Calibri"/>
              </a:rPr>
              <a:t>M+3-6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0000" y="2412000"/>
            <a:ext cx="540000" cy="324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400" b="1" i="0">
                <a:solidFill>
                  <a:srgbClr val="F0C95C"/>
                </a:solidFill>
                <a:latin typeface="Calibri"/>
              </a:rPr>
              <a:t>5.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60000" y="2412000"/>
            <a:ext cx="8640000" cy="324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0A1A3D"/>
                </a:solidFill>
                <a:latin typeface="Calibri"/>
              </a:rPr>
              <a:t>Assunzione 3 FTE regulatory (CISO + DPO + Head Regulatory)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080000" y="2430000"/>
            <a:ext cx="1440000" cy="288000"/>
          </a:xfrm>
          <a:prstGeom prst="rect">
            <a:avLst/>
          </a:prstGeom>
          <a:solidFill>
            <a:srgbClr val="0A1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80000" y="2430000"/>
            <a:ext cx="1440000" cy="28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 i="0">
                <a:solidFill>
                  <a:srgbClr val="F0C95C"/>
                </a:solidFill>
                <a:latin typeface="Calibri"/>
              </a:rPr>
              <a:t>M+6-9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0000" y="2790000"/>
            <a:ext cx="540000" cy="324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400" b="1" i="0">
                <a:solidFill>
                  <a:srgbClr val="F0C95C"/>
                </a:solidFill>
                <a:latin typeface="Calibri"/>
              </a:rPr>
              <a:t>6.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60000" y="2790000"/>
            <a:ext cx="8640000" cy="324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0A1A3D"/>
                </a:solidFill>
                <a:latin typeface="Calibri"/>
              </a:rPr>
              <a:t>Benchmark pricing PA reale (e-GEOS, Planetek, NHazca)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080000" y="2808000"/>
            <a:ext cx="1440000" cy="288000"/>
          </a:xfrm>
          <a:prstGeom prst="rect">
            <a:avLst/>
          </a:prstGeom>
          <a:solidFill>
            <a:srgbClr val="0A1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80000" y="2808000"/>
            <a:ext cx="1440000" cy="28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 i="0">
                <a:solidFill>
                  <a:srgbClr val="F0C95C"/>
                </a:solidFill>
                <a:latin typeface="Calibri"/>
              </a:rPr>
              <a:t>M+6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0000" y="3168000"/>
            <a:ext cx="540000" cy="324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400" b="1" i="0">
                <a:solidFill>
                  <a:srgbClr val="F0C95C"/>
                </a:solidFill>
                <a:latin typeface="Calibri"/>
              </a:rPr>
              <a:t>7.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60000" y="3168000"/>
            <a:ext cx="8640000" cy="324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0A1A3D"/>
                </a:solidFill>
                <a:latin typeface="Calibri"/>
              </a:rPr>
              <a:t>Quotation JOUAV + Tekever parallele per CapEx accurate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080000" y="3186000"/>
            <a:ext cx="1440000" cy="288000"/>
          </a:xfrm>
          <a:prstGeom prst="rect">
            <a:avLst/>
          </a:prstGeom>
          <a:solidFill>
            <a:srgbClr val="0A1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080000" y="3186000"/>
            <a:ext cx="1440000" cy="28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 i="0">
                <a:solidFill>
                  <a:srgbClr val="F0C95C"/>
                </a:solidFill>
                <a:latin typeface="Calibri"/>
              </a:rPr>
              <a:t>M+3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0000" y="3546000"/>
            <a:ext cx="540000" cy="324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400" b="1" i="0">
                <a:solidFill>
                  <a:srgbClr val="F0C95C"/>
                </a:solidFill>
                <a:latin typeface="Calibri"/>
              </a:rPr>
              <a:t>8.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60000" y="3546000"/>
            <a:ext cx="8640000" cy="324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0A1A3D"/>
                </a:solidFill>
                <a:latin typeface="Calibri"/>
              </a:rPr>
              <a:t>Engagement EASA Innovation Network + RMT HAPS request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080000" y="3564000"/>
            <a:ext cx="1440000" cy="288000"/>
          </a:xfrm>
          <a:prstGeom prst="rect">
            <a:avLst/>
          </a:prstGeom>
          <a:solidFill>
            <a:srgbClr val="0A1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080000" y="3564000"/>
            <a:ext cx="1440000" cy="28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 i="0">
                <a:solidFill>
                  <a:srgbClr val="F0C95C"/>
                </a:solidFill>
                <a:latin typeface="Calibri"/>
              </a:rPr>
              <a:t>M+9-12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0000" y="3924000"/>
            <a:ext cx="540000" cy="324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400" b="1" i="0">
                <a:solidFill>
                  <a:srgbClr val="F0C95C"/>
                </a:solidFill>
                <a:latin typeface="Calibri"/>
              </a:rPr>
              <a:t>9.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60000" y="3924000"/>
            <a:ext cx="8640000" cy="324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0A1A3D"/>
                </a:solidFill>
                <a:latin typeface="Calibri"/>
              </a:rPr>
              <a:t>Modello finanziario Excel + DCF + sensitivity + Monte Carlo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080000" y="3942000"/>
            <a:ext cx="1440000" cy="288000"/>
          </a:xfrm>
          <a:prstGeom prst="rect">
            <a:avLst/>
          </a:prstGeom>
          <a:solidFill>
            <a:srgbClr val="0A1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080000" y="3942000"/>
            <a:ext cx="1440000" cy="28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 i="0">
                <a:solidFill>
                  <a:srgbClr val="F0C95C"/>
                </a:solidFill>
                <a:latin typeface="Calibri"/>
              </a:rPr>
              <a:t>M+6-9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0000" y="4302000"/>
            <a:ext cx="540000" cy="324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400" b="1" i="0">
                <a:solidFill>
                  <a:srgbClr val="F0C95C"/>
                </a:solidFill>
                <a:latin typeface="Calibri"/>
              </a:rPr>
              <a:t>10.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260000" y="4302000"/>
            <a:ext cx="8640000" cy="324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0A1A3D"/>
                </a:solidFill>
                <a:latin typeface="Calibri"/>
              </a:rPr>
              <a:t>Position paper "Italian Stratospheric Sovereignty" + dialogo DG CNECT/DEFIS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0080000" y="4320000"/>
            <a:ext cx="1440000" cy="288000"/>
          </a:xfrm>
          <a:prstGeom prst="rect">
            <a:avLst/>
          </a:prstGeom>
          <a:solidFill>
            <a:srgbClr val="0A1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080000" y="4320000"/>
            <a:ext cx="1440000" cy="28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 i="0">
                <a:solidFill>
                  <a:srgbClr val="F0C95C"/>
                </a:solidFill>
                <a:latin typeface="Calibri"/>
              </a:rPr>
              <a:t>M+9-12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0A1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8000" cy="6858000"/>
          </a:xfrm>
          <a:prstGeom prst="rect">
            <a:avLst/>
          </a:prstGeom>
          <a:solidFill>
            <a:srgbClr val="F0C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084119" y="0"/>
            <a:ext cx="108000" cy="6858000"/>
          </a:xfrm>
          <a:prstGeom prst="rect">
            <a:avLst/>
          </a:prstGeom>
          <a:solidFill>
            <a:srgbClr val="F0C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Firmamento Technolog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0000" y="720000"/>
            <a:ext cx="4320000" cy="24120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20000" y="3060000"/>
            <a:ext cx="10752119" cy="7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Grazie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0000" y="3960000"/>
            <a:ext cx="10752119" cy="432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0" i="1">
                <a:solidFill>
                  <a:srgbClr val="F0C95C"/>
                </a:solidFill>
                <a:latin typeface="Calibri"/>
              </a:rPr>
              <a:t>Per domande e approfondimenti: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0000" y="4500000"/>
            <a:ext cx="10752119" cy="324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PEC: firmamentotechnologies@pec.it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000" y="4860000"/>
            <a:ext cx="10752119" cy="251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 i="0">
                <a:solidFill>
                  <a:srgbClr val="F0C95C"/>
                </a:solidFill>
                <a:latin typeface="Calibri"/>
              </a:rPr>
              <a:t>FIRMAMENTO TECHNOLOGIES SOCIETA' COOPERATIVA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0000" y="5148000"/>
            <a:ext cx="10752119" cy="21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 i="0">
                <a:solidFill>
                  <a:srgbClr val="F4F4F6"/>
                </a:solidFill>
                <a:latin typeface="Calibri"/>
              </a:rPr>
              <a:t>Via Brigata Liguria 105 R . 16121 Genova (GE) . P.IVA IT03038500991 . REA 528629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0000" y="6498000"/>
            <a:ext cx="10752119" cy="1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0" i="1">
                <a:solidFill>
                  <a:srgbClr val="F4F4F6"/>
                </a:solidFill>
                <a:latin typeface="Calibri"/>
              </a:rPr>
              <a:t>Studio di Fattibilita HALE/VTOL . Bozza M+11 . Maggio 2026 . Documento riservato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