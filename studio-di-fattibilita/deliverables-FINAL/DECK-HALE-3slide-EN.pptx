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7200000" cy="7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4600" b="1" i="0">
                <a:solidFill>
                  <a:srgbClr val="FFFFFF"/>
                </a:solidFill>
                <a:latin typeface="Inter"/>
              </a:rPr>
              <a:t>Project H.A.L.E.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260000"/>
            <a:ext cx="720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0" i="0">
                <a:solidFill>
                  <a:srgbClr val="FFFFFF"/>
                </a:solidFill>
                <a:latin typeface="Inter"/>
              </a:rPr>
              <a:t>(High Altitude Long Endurance)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980000"/>
            <a:ext cx="5400000" cy="90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The cooperative pseudo-satellite</a:t>
            </a:r>
          </a:p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Consolas"/>
              </a:rPr>
              <a:t>for national resilience.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420000"/>
            <a:ext cx="54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C5EB"/>
                </a:solidFill>
                <a:latin typeface="Consolas"/>
              </a:rPr>
              <a:t>Operating altitude </a:t>
            </a:r>
            <a:r>
              <a:rPr sz="1600" b="1" i="0">
                <a:solidFill>
                  <a:srgbClr val="FFFFFF"/>
                </a:solidFill>
                <a:latin typeface="Consolas"/>
              </a:rPr>
              <a:t>20 km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3816000"/>
            <a:ext cx="54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C5EB"/>
                </a:solidFill>
                <a:latin typeface="Consolas"/>
              </a:rPr>
              <a:t>Macro-regional coverage </a:t>
            </a:r>
            <a:r>
              <a:rPr sz="1600" b="1" i="0">
                <a:solidFill>
                  <a:srgbClr val="FFFFFF"/>
                </a:solidFill>
                <a:latin typeface="Consolas"/>
              </a:rPr>
              <a:t>&gt; 500 km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4212000"/>
            <a:ext cx="54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C5EB"/>
                </a:solidFill>
                <a:latin typeface="Consolas"/>
              </a:rPr>
              <a:t>Latency </a:t>
            </a:r>
            <a:r>
              <a:rPr sz="1600" b="1" i="0">
                <a:solidFill>
                  <a:srgbClr val="FFFFFF"/>
                </a:solidFill>
                <a:latin typeface="Consolas"/>
              </a:rPr>
              <a:t>&lt; 20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608000"/>
            <a:ext cx="54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C5EB"/>
                </a:solidFill>
                <a:latin typeface="Consolas"/>
              </a:rPr>
              <a:t>Propulsion </a:t>
            </a:r>
            <a:r>
              <a:rPr sz="1600" b="1" i="0">
                <a:solidFill>
                  <a:srgbClr val="FFFFFF"/>
                </a:solidFill>
                <a:latin typeface="Consolas"/>
              </a:rPr>
              <a:t>Solar-electric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5004000"/>
            <a:ext cx="54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A8C5EB"/>
                </a:solidFill>
                <a:latin typeface="Consolas"/>
              </a:rPr>
              <a:t>Endurance target </a:t>
            </a:r>
            <a:r>
              <a:rPr sz="1600" b="1" i="0">
                <a:solidFill>
                  <a:srgbClr val="FFFFFF"/>
                </a:solidFill>
                <a:latin typeface="Consolas"/>
              </a:rPr>
              <a:t>30+ days perennial (Y3)</a:t>
            </a:r>
          </a:p>
        </p:txBody>
      </p:sp>
      <p:pic>
        <p:nvPicPr>
          <p:cNvPr id="11" name="Picture 10" descr="HAL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0000" y="1620000"/>
            <a:ext cx="5760000" cy="3960000"/>
          </a:xfrm>
          <a:prstGeom prst="rect">
            <a:avLst/>
          </a:prstGeom>
        </p:spPr>
      </p:pic>
      <p:cxnSp>
        <p:nvCxnSpPr>
          <p:cNvPr id="12" name="Connector 11"/>
          <p:cNvCxnSpPr/>
          <p:nvPr/>
        </p:nvCxnSpPr>
        <p:spPr>
          <a:xfrm>
            <a:off x="540000" y="6282000"/>
            <a:ext cx="11112119" cy="0"/>
          </a:xfrm>
          <a:prstGeom prst="line">
            <a:avLst/>
          </a:prstGeom>
          <a:ln w="6350">
            <a:solidFill>
              <a:srgbClr val="F0C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0000" y="6426000"/>
            <a:ext cx="54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F0C95C"/>
                </a:solidFill>
                <a:latin typeface="Inter"/>
              </a:rPr>
              <a:t>FIRMAMENTO TECHNOLOGIES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52119" y="6426000"/>
            <a:ext cx="54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FFFFFF"/>
                </a:solidFill>
                <a:latin typeface="Consolas"/>
              </a:rPr>
              <a:t>Pentema pilot . Liguria SNAI . Cooperative Deep-Tech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80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A1A3D"/>
                </a:solidFill>
                <a:latin typeface="Inter"/>
              </a:rPr>
              <a:t>Public Value &amp; Territorial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16000"/>
            <a:ext cx="108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A3A3A"/>
                </a:solidFill>
                <a:latin typeface="Consolas"/>
              </a:rPr>
              <a:t>Standardized plug-and-play interface for rapid sensor integration.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160000"/>
            <a:ext cx="792000" cy="3960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792000" cy="39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A1A3D"/>
                </a:solidFill>
                <a:latin typeface="Consolas"/>
              </a:rPr>
              <a:t>H.A.L.E.</a:t>
            </a:r>
          </a:p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0A1A3D"/>
                </a:solidFill>
                <a:latin typeface="Consolas"/>
              </a:rPr>
              <a:t>Core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84000" y="4140000"/>
            <a:ext cx="756000" cy="0"/>
          </a:xfrm>
          <a:prstGeom prst="line">
            <a:avLst/>
          </a:prstGeom>
          <a:ln w="15240">
            <a:solidFill>
              <a:srgbClr val="0A1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340000" y="2160000"/>
            <a:ext cx="90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1584000" y="2610000.0"/>
            <a:ext cx="756000" cy="0.0"/>
          </a:xfrm>
          <a:prstGeom prst="line">
            <a:avLst/>
          </a:prstGeom>
          <a:ln w="10160">
            <a:solidFill>
              <a:srgbClr val="0A1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484000" y="2268000"/>
            <a:ext cx="87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1A3D"/>
                </a:solidFill>
                <a:latin typeface="Inter"/>
              </a:rPr>
              <a:t>Disaster 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4000" y="2628000"/>
            <a:ext cx="871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A8C5EB"/>
                </a:solidFill>
                <a:latin typeface="Consolas"/>
              </a:rPr>
              <a:t>Rapid</a:t>
            </a:r>
            <a:r>
              <a:rPr sz="1300" b="0" i="0">
                <a:solidFill>
                  <a:srgbClr val="3A3A3A"/>
                </a:solidFill>
                <a:latin typeface="Consolas"/>
              </a:rPr>
              <a:t> network restoration after floods or landslides.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40000" y="3204000"/>
            <a:ext cx="90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1584000" y="3654000.0"/>
            <a:ext cx="756000" cy="0.0"/>
          </a:xfrm>
          <a:prstGeom prst="line">
            <a:avLst/>
          </a:prstGeom>
          <a:ln w="10160">
            <a:solidFill>
              <a:srgbClr val="0A1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484000" y="3312000"/>
            <a:ext cx="87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1A3D"/>
                </a:solidFill>
                <a:latin typeface="Inter"/>
              </a:rPr>
              <a:t>Environmental Monitoring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84000" y="3672000"/>
            <a:ext cx="871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A8C5EB"/>
                </a:solidFill>
                <a:latin typeface="Consolas"/>
              </a:rPr>
              <a:t>Wildfire alert</a:t>
            </a:r>
            <a:r>
              <a:rPr sz="1300" b="0" i="0">
                <a:solidFill>
                  <a:srgbClr val="3A3A3A"/>
                </a:solidFill>
                <a:latin typeface="Consolas"/>
              </a:rPr>
              <a:t> and hydrogeological surveillance, multispectral / thermal sensors.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40000" y="4248000"/>
            <a:ext cx="90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584000" y="4698000.0"/>
            <a:ext cx="756000" cy="0.0"/>
          </a:xfrm>
          <a:prstGeom prst="line">
            <a:avLst/>
          </a:prstGeom>
          <a:ln w="10160">
            <a:solidFill>
              <a:srgbClr val="0A1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84000" y="4356000"/>
            <a:ext cx="87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1A3D"/>
                </a:solidFill>
                <a:latin typeface="Inter"/>
              </a:rPr>
              <a:t>Telemedicine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4000" y="4716000"/>
            <a:ext cx="871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A8C5EB"/>
                </a:solidFill>
                <a:latin typeface="Consolas"/>
              </a:rPr>
              <a:t>Ultra-reliable</a:t>
            </a:r>
            <a:r>
              <a:rPr sz="1300" b="0" i="0">
                <a:solidFill>
                  <a:srgbClr val="3A3A3A"/>
                </a:solidFill>
                <a:latin typeface="Consolas"/>
              </a:rPr>
              <a:t> network links for remote health posts.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40000" y="5292000"/>
            <a:ext cx="90000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1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1584000" y="5742000.0"/>
            <a:ext cx="756000" cy="0.0"/>
          </a:xfrm>
          <a:prstGeom prst="line">
            <a:avLst/>
          </a:prstGeom>
          <a:ln w="10160">
            <a:solidFill>
              <a:srgbClr val="0A1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484000" y="5400000"/>
            <a:ext cx="8712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A1A3D"/>
                </a:solidFill>
                <a:latin typeface="Inter"/>
              </a:rPr>
              <a:t>Civic Connectivity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4000" y="5760000"/>
            <a:ext cx="8712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 i="0">
                <a:solidFill>
                  <a:srgbClr val="A8C5EB"/>
                </a:solidFill>
                <a:latin typeface="Consolas"/>
              </a:rPr>
              <a:t>Smart agriculture</a:t>
            </a:r>
            <a:r>
              <a:rPr sz="1300" b="0" i="0">
                <a:solidFill>
                  <a:srgbClr val="3A3A3A"/>
                </a:solidFill>
                <a:latin typeface="Consolas"/>
              </a:rPr>
              <a:t> and local e-governance support.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0000" y="6282000"/>
            <a:ext cx="11112119" cy="0"/>
          </a:xfrm>
          <a:prstGeom prst="line">
            <a:avLst/>
          </a:prstGeom>
          <a:ln w="6350">
            <a:solidFill>
              <a:srgbClr val="F0C9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0000" y="6426000"/>
            <a:ext cx="54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>
                <a:solidFill>
                  <a:srgbClr val="0A1A3D"/>
                </a:solidFill>
                <a:latin typeface="Inter"/>
              </a:rPr>
              <a:t>FIRMAMENTO TECHNOLOGIES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2119" y="6426000"/>
            <a:ext cx="5400000" cy="21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 i="0">
                <a:solidFill>
                  <a:srgbClr val="3A3A3A"/>
                </a:solidFill>
                <a:latin typeface="Consolas"/>
              </a:rPr>
              <a:t>H.A.L.E. Stratospheric Layer . 20 km AGL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432000"/>
            <a:ext cx="10800000" cy="6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>
                <a:solidFill>
                  <a:srgbClr val="0A1A3D"/>
                </a:solidFill>
                <a:latin typeface="Inter"/>
              </a:rPr>
              <a:t>Beyond the Drone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1116000"/>
            <a:ext cx="10800000" cy="32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3A3A3A"/>
                </a:solidFill>
                <a:latin typeface="Consolas"/>
              </a:rPr>
              <a:t>Three structural pillars defining the strategic positioning.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980000"/>
            <a:ext cx="360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C5EB"/>
                </a:solidFill>
                <a:latin typeface="Inter"/>
              </a:rPr>
              <a:t>Data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C5EB"/>
                </a:solidFill>
                <a:latin typeface="Inter"/>
              </a:rPr>
              <a:t>Sovereignty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3240000"/>
            <a:ext cx="36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1A3D"/>
                </a:solidFill>
                <a:latin typeface="Consolas"/>
              </a:rPr>
              <a:t>European data residency. Consent management and sovereign cloud integration. Full GDPR + NIS2 compliance, AgID/PSN hosting for PA-grade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1980000"/>
            <a:ext cx="360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0C95C"/>
                </a:solidFill>
                <a:latin typeface="Inter"/>
              </a:rPr>
              <a:t>Dual-Use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F0C95C"/>
                </a:solidFill>
                <a:latin typeface="Inter"/>
              </a:rPr>
              <a:t>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3240000"/>
            <a:ext cx="36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1A3D"/>
                </a:solidFill>
                <a:latin typeface="Consolas"/>
              </a:rPr>
              <a:t>Support and backup to critical infrastructure. Persistent regional coverage for civil protection, disaster recovery and emergency telecom.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00000" y="1980000"/>
            <a:ext cx="3600000" cy="10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C5EB"/>
                </a:solidFill>
                <a:latin typeface="Inter"/>
              </a:rPr>
              <a:t>Seasonal</a:t>
            </a:r>
          </a:p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A8C5EB"/>
                </a:solidFill>
                <a:latin typeface="Inter"/>
              </a:rPr>
              <a:t>Persistence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00000" y="3240000"/>
            <a:ext cx="3600000" cy="162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0A1A3D"/>
                </a:solidFill>
                <a:latin typeface="Consolas"/>
              </a:rPr>
              <a:t>Architecture optimized for the 44 deg N energy balance, with continuous monitoring March-October and seasonal-only fallback as Plan 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0000" y="5040000"/>
            <a:ext cx="11112119" cy="1260000"/>
          </a:xfrm>
          <a:prstGeom prst="rect">
            <a:avLst/>
          </a:prstGeom>
          <a:solidFill>
            <a:srgbClr val="0A1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0000" y="5184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0C95C"/>
                </a:solidFill>
                <a:latin typeface="Consolas"/>
              </a:rPr>
              <a:t>Pilot site .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Pentema, Torriglia (Genova), Liguria, Italy . SNAI Inner Area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400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0C95C"/>
                </a:solidFill>
                <a:latin typeface="Consolas"/>
              </a:rPr>
              <a:t>Network .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10 Legacoop cooperatives . capofila Fabrica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5616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0C95C"/>
                </a:solidFill>
                <a:latin typeface="Consolas"/>
              </a:rPr>
              <a:t>Tender .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Coopfond Cooding Prototypes (Legacoop)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832000"/>
            <a:ext cx="4680000" cy="36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 i="0">
                <a:solidFill>
                  <a:srgbClr val="F0C95C"/>
                </a:solidFill>
                <a:latin typeface="Consolas"/>
              </a:rPr>
              <a:t>Compliance . </a:t>
            </a:r>
            <a:r>
              <a:rPr sz="1100" b="0" i="0">
                <a:solidFill>
                  <a:srgbClr val="FFFFFF"/>
                </a:solidFill>
                <a:latin typeface="Consolas"/>
              </a:rPr>
              <a:t>Italian PFTE art. 41 D.Lgs. 36/2023 + NASA SE Handbook Rev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0" y="5184000"/>
            <a:ext cx="46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0C95C"/>
                </a:solidFill>
                <a:latin typeface="Inter"/>
              </a:rPr>
              <a:t>€700k – €2M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CapEx 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0000" y="5543999"/>
            <a:ext cx="46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0C95C"/>
                </a:solidFill>
                <a:latin typeface="Inter"/>
              </a:rPr>
              <a:t>€1.18M/y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OpEx Y2 reconciled (incl. regulatory team)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0000" y="5904000"/>
            <a:ext cx="4680000" cy="43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F0C95C"/>
                </a:solidFill>
                <a:latin typeface="Inter"/>
              </a:rPr>
              <a:t>€260k </a:t>
            </a:r>
            <a:r>
              <a:rPr sz="1200" b="0" i="0">
                <a:solidFill>
                  <a:srgbClr val="FFFFFF"/>
                </a:solidFill>
                <a:latin typeface="Consolas"/>
              </a:rPr>
              <a:t>Revenue Y1 baseline (range €220-300k)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6498000"/>
            <a:ext cx="54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1" i="0">
                <a:solidFill>
                  <a:srgbClr val="0A1A3D"/>
                </a:solidFill>
                <a:latin typeface="Inter"/>
              </a:rPr>
              <a:t>FIRMAMENTO TECHNOLOGIES SOCIETA' COOPERATIVA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52119" y="6498000"/>
            <a:ext cx="5400000" cy="180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 i="0">
                <a:solidFill>
                  <a:srgbClr val="3A3A3A"/>
                </a:solidFill>
                <a:latin typeface="Consolas"/>
              </a:rPr>
              <a:t>P.IVA IT03038500991 . PEC firmamentotechnologies@pec.it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