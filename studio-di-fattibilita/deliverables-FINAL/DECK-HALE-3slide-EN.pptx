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eam_firmamento_w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3957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2119" cy="1260000"/>
          </a:xfrm>
          <a:prstGeom prst="rect">
            <a:avLst/>
          </a:prstGeom>
          <a:solidFill>
            <a:srgbClr val="0A1A3D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0000" y="324000"/>
            <a:ext cx="1111211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0C95C"/>
                </a:solidFill>
                <a:latin typeface="Inter"/>
              </a:rPr>
              <a:t>DEEP-TECH ECOSYSTEM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576000"/>
            <a:ext cx="11112119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Inter"/>
              </a:rPr>
              <a:t>Humans Keep Purpose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3960000"/>
            <a:ext cx="12192119" cy="36000"/>
          </a:xfrm>
          <a:prstGeom prst="rect">
            <a:avLst/>
          </a:prstGeom>
          <a:solidFill>
            <a:srgbClr val="F0C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000" y="4140000"/>
            <a:ext cx="504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A8C5EB"/>
                </a:solidFill>
                <a:latin typeface="Inter"/>
              </a:rPr>
              <a:t>DOPE Hubs (Non-Profit)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4572000"/>
            <a:ext cx="5040000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FFFFFF"/>
                </a:solidFill>
                <a:latin typeface="Consolas"/>
              </a:rPr>
              <a:t>Excellence training and applied research.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FFFFFF"/>
                </a:solidFill>
                <a:latin typeface="Consolas"/>
              </a:rPr>
              <a:t>The product is the people.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40000" y="4248000"/>
            <a:ext cx="360000" cy="216000"/>
          </a:xfrm>
          <a:prstGeom prst="rightArrow">
            <a:avLst/>
          </a:prstGeom>
          <a:solidFill>
            <a:srgbClr val="F0C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0000" y="4140000"/>
            <a:ext cx="504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0C95C"/>
                </a:solidFill>
                <a:latin typeface="Inter"/>
              </a:rPr>
              <a:t>Firmamento Technologies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0000" y="4464000"/>
            <a:ext cx="504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C9A64A"/>
                </a:solidFill>
                <a:latin typeface="Consolas"/>
              </a:rPr>
              <a:t>Deep-Tech Cooperative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0000" y="4716000"/>
            <a:ext cx="5040000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FFFFFF"/>
                </a:solidFill>
                <a:latin typeface="Consolas"/>
              </a:rPr>
              <a:t>Industrialization and Venture Building.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FFFFFF"/>
                </a:solidFill>
                <a:latin typeface="Consolas"/>
              </a:rPr>
              <a:t>The product is digital sovereignty.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0000" y="5580000"/>
            <a:ext cx="11112119" cy="0"/>
          </a:xfrm>
          <a:prstGeom prst="line">
            <a:avLst/>
          </a:prstGeom>
          <a:ln w="7620">
            <a:solidFill>
              <a:srgbClr val="F0C9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0000" y="5688000"/>
            <a:ext cx="267002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0C95C"/>
                </a:solidFill>
                <a:latin typeface="Inter"/>
              </a:rPr>
              <a:t>20 → 120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000" y="6083999"/>
            <a:ext cx="267002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FFFFFF"/>
                </a:solidFill>
                <a:latin typeface="Consolas"/>
              </a:rPr>
              <a:t>active researchers in 10 months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8029" y="5688000"/>
            <a:ext cx="267002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0C95C"/>
                </a:solidFill>
                <a:latin typeface="Inter"/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18029" y="6083999"/>
            <a:ext cx="267002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FFFFFF"/>
                </a:solidFill>
                <a:latin typeface="Consolas"/>
              </a:rPr>
              <a:t>parallel projects, Aerospace, Health, AI, Cyber, EO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59" y="5688000"/>
            <a:ext cx="267002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0C95C"/>
                </a:solidFill>
                <a:latin typeface="Inter"/>
              </a:rPr>
              <a:t>6th worldwide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59" y="6083999"/>
            <a:ext cx="267002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FFFFFF"/>
                </a:solidFill>
                <a:latin typeface="Consolas"/>
              </a:rPr>
              <a:t>UAS Challenge 2025 + Best Newcomer Award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74089" y="5688000"/>
            <a:ext cx="267002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0C95C"/>
                </a:solidFill>
                <a:latin typeface="Inter"/>
              </a:rPr>
              <a:t>Institutional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74089" y="6083999"/>
            <a:ext cx="267002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FFFFFF"/>
                </a:solidFill>
                <a:latin typeface="Consolas"/>
              </a:rPr>
              <a:t>University of Genoa, Liguria Region, RINA, Legacoop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0000" y="6606001"/>
            <a:ext cx="111121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 i="0">
                <a:solidFill>
                  <a:srgbClr val="E6E6EA"/>
                </a:solidFill>
                <a:latin typeface="Consolas"/>
              </a:rPr>
              <a:t>FIRMAMENTO TECHNOLOGIES SOCIETA' COOPERATIVA . P.IVA IT03038500991 . PEC firmamentotechnologies@pec.it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432000"/>
            <a:ext cx="7200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 i="0">
                <a:solidFill>
                  <a:srgbClr val="FFFFFF"/>
                </a:solidFill>
                <a:latin typeface="Inter"/>
              </a:rPr>
              <a:t>Project H.A.L.E.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080000"/>
            <a:ext cx="720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FFFFFF"/>
                </a:solidFill>
                <a:latin typeface="Inter"/>
              </a:rPr>
              <a:t>(High Altitude Long Endurance)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655999"/>
            <a:ext cx="540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FFFFFF"/>
                </a:solidFill>
                <a:latin typeface="Consolas"/>
              </a:rPr>
              <a:t>The cooperative pseudo-satellite</a:t>
            </a:r>
          </a:p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FFFFFF"/>
                </a:solidFill>
                <a:latin typeface="Consolas"/>
              </a:rPr>
              <a:t>for national resilience.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2880000"/>
            <a:ext cx="540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A8C5EB"/>
                </a:solidFill>
                <a:latin typeface="Consolas"/>
              </a:rPr>
              <a:t>Operating altitude </a:t>
            </a:r>
            <a:r>
              <a:rPr sz="1300" b="1" i="0">
                <a:solidFill>
                  <a:srgbClr val="FFFFFF"/>
                </a:solidFill>
                <a:latin typeface="Consolas"/>
              </a:rPr>
              <a:t>20 km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3186000"/>
            <a:ext cx="540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A8C5EB"/>
                </a:solidFill>
                <a:latin typeface="Consolas"/>
              </a:rPr>
              <a:t>Macro-regional coverage </a:t>
            </a:r>
            <a:r>
              <a:rPr sz="1300" b="1" i="0">
                <a:solidFill>
                  <a:srgbClr val="FFFFFF"/>
                </a:solidFill>
                <a:latin typeface="Consolas"/>
              </a:rPr>
              <a:t>&gt; 500 km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3492000"/>
            <a:ext cx="540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A8C5EB"/>
                </a:solidFill>
                <a:latin typeface="Consolas"/>
              </a:rPr>
              <a:t>Latency </a:t>
            </a:r>
            <a:r>
              <a:rPr sz="1300" b="1" i="0">
                <a:solidFill>
                  <a:srgbClr val="FFFFFF"/>
                </a:solidFill>
                <a:latin typeface="Consolas"/>
              </a:rPr>
              <a:t>&lt; 20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3798000"/>
            <a:ext cx="540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A8C5EB"/>
                </a:solidFill>
                <a:latin typeface="Consolas"/>
              </a:rPr>
              <a:t>Propulsion </a:t>
            </a:r>
            <a:r>
              <a:rPr sz="1300" b="1" i="0">
                <a:solidFill>
                  <a:srgbClr val="FFFFFF"/>
                </a:solidFill>
                <a:latin typeface="Consolas"/>
              </a:rPr>
              <a:t>Solar-electric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0000" y="4104000"/>
            <a:ext cx="540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A8C5EB"/>
                </a:solidFill>
                <a:latin typeface="Consolas"/>
              </a:rPr>
              <a:t>Endurance target </a:t>
            </a:r>
            <a:r>
              <a:rPr sz="1300" b="1" i="0">
                <a:solidFill>
                  <a:srgbClr val="FFFFFF"/>
                </a:solidFill>
                <a:latin typeface="Consolas"/>
              </a:rPr>
              <a:t>30+ days perennial (Y3)</a:t>
            </a:r>
          </a:p>
        </p:txBody>
      </p:sp>
      <p:pic>
        <p:nvPicPr>
          <p:cNvPr id="11" name="Picture 10" descr="HAL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0" y="1260000"/>
            <a:ext cx="4500000" cy="306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0000" y="4680000"/>
            <a:ext cx="111121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F0C95C"/>
                </a:solidFill>
                <a:latin typeface="Inter"/>
              </a:rPr>
              <a:t>Public value, four mission profiles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0000" y="5076000"/>
            <a:ext cx="264302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A8C5EB"/>
                </a:solidFill>
                <a:latin typeface="Inter"/>
              </a:rPr>
              <a:t>Disaster Response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0000" y="5400000"/>
            <a:ext cx="2643029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FFFFFF"/>
                </a:solidFill>
                <a:latin typeface="Consolas"/>
              </a:rPr>
              <a:t>Rapid network restoration after floods and landslides.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3029" y="5076000"/>
            <a:ext cx="264302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A8C5EB"/>
                </a:solidFill>
                <a:latin typeface="Inter"/>
              </a:rPr>
              <a:t>Environmental Monitoring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63029" y="5400000"/>
            <a:ext cx="2643029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FFFFFF"/>
                </a:solidFill>
                <a:latin typeface="Consolas"/>
              </a:rPr>
              <a:t>Wildfire alert and hydrogeological surveillance (multispectral / thermal).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6059" y="5076000"/>
            <a:ext cx="264302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A8C5EB"/>
                </a:solidFill>
                <a:latin typeface="Inter"/>
              </a:rPr>
              <a:t>Telemedicine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6059" y="5400000"/>
            <a:ext cx="2643029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FFFFFF"/>
                </a:solidFill>
                <a:latin typeface="Consolas"/>
              </a:rPr>
              <a:t>Ultra-reliable links for remote health posts.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9089" y="5076000"/>
            <a:ext cx="264302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A8C5EB"/>
                </a:solidFill>
                <a:latin typeface="Inter"/>
              </a:rPr>
              <a:t>Civic Connectivity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9089" y="5400000"/>
            <a:ext cx="2643029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FFFFFF"/>
                </a:solidFill>
                <a:latin typeface="Consolas"/>
              </a:rPr>
              <a:t>Smart agriculture and local e-governance support.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0000" y="6354001"/>
            <a:ext cx="11112119" cy="0"/>
          </a:xfrm>
          <a:prstGeom prst="line">
            <a:avLst/>
          </a:prstGeom>
          <a:ln w="6350">
            <a:solidFill>
              <a:srgbClr val="F0C9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0000" y="6498000"/>
            <a:ext cx="54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F0C95C"/>
                </a:solidFill>
                <a:latin typeface="Inter"/>
              </a:rPr>
              <a:t>FIRMAMENTO TECHNOLOGIES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2119" y="6498000"/>
            <a:ext cx="54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Consolas"/>
              </a:rPr>
              <a:t>Pentema pilot . Liguria SNAI . H.A.L.E. Stratospheric Layer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432000"/>
            <a:ext cx="10800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0A1A3D"/>
                </a:solidFill>
                <a:latin typeface="Inter"/>
              </a:rPr>
              <a:t>Beyond the Drone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116000"/>
            <a:ext cx="1080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A3A3A"/>
                </a:solidFill>
                <a:latin typeface="Consolas"/>
              </a:rPr>
              <a:t>Three structural pillars defining the strategic positioning.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980000"/>
            <a:ext cx="36000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A8C5EB"/>
                </a:solidFill>
                <a:latin typeface="Inter"/>
              </a:rPr>
              <a:t>Data</a:t>
            </a:r>
          </a:p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A8C5EB"/>
                </a:solidFill>
                <a:latin typeface="Inter"/>
              </a:rPr>
              <a:t>Sovereignty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3240000"/>
            <a:ext cx="360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0A1A3D"/>
                </a:solidFill>
                <a:latin typeface="Consolas"/>
              </a:rPr>
              <a:t>European data residency. Consent management and sovereign cloud integration. Full GDPR + NIS2 compliance, AgID/PSN hosting for PA-grade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0" y="1980000"/>
            <a:ext cx="36000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0C95C"/>
                </a:solidFill>
                <a:latin typeface="Inter"/>
              </a:rPr>
              <a:t>Dual-Use</a:t>
            </a:r>
          </a:p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0C95C"/>
                </a:solidFill>
                <a:latin typeface="Inter"/>
              </a:rPr>
              <a:t>Resilience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0" y="3240000"/>
            <a:ext cx="360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0A1A3D"/>
                </a:solidFill>
                <a:latin typeface="Consolas"/>
              </a:rPr>
              <a:t>Support and backup to critical infrastructure. Persistent regional coverage for civil protection, disaster recovery and emergency telecom.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0000" y="1980000"/>
            <a:ext cx="36000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A8C5EB"/>
                </a:solidFill>
                <a:latin typeface="Inter"/>
              </a:rPr>
              <a:t>Seasonal</a:t>
            </a:r>
          </a:p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A8C5EB"/>
                </a:solidFill>
                <a:latin typeface="Inter"/>
              </a:rPr>
              <a:t>Persistence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00000" y="3240000"/>
            <a:ext cx="360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0A1A3D"/>
                </a:solidFill>
                <a:latin typeface="Consolas"/>
              </a:rPr>
              <a:t>Architecture optimized for the 44 deg N energy balance, with continuous monitoring March-October and seasonal-only fallback as Plan 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0000" y="5040000"/>
            <a:ext cx="11112119" cy="1260000"/>
          </a:xfrm>
          <a:prstGeom prst="rect">
            <a:avLst/>
          </a:prstGeom>
          <a:solidFill>
            <a:srgbClr val="0A1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0000" y="5184000"/>
            <a:ext cx="468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F0C95C"/>
                </a:solidFill>
                <a:latin typeface="Consolas"/>
              </a:rPr>
              <a:t>Pilot site . </a:t>
            </a:r>
            <a:r>
              <a:rPr sz="1100" b="0" i="0">
                <a:solidFill>
                  <a:srgbClr val="FFFFFF"/>
                </a:solidFill>
                <a:latin typeface="Consolas"/>
              </a:rPr>
              <a:t>Pentema, Torriglia (Genova), Liguria, Italy . SNAI Inner Area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00" y="5400000"/>
            <a:ext cx="468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F0C95C"/>
                </a:solidFill>
                <a:latin typeface="Consolas"/>
              </a:rPr>
              <a:t>Network . </a:t>
            </a:r>
            <a:r>
              <a:rPr sz="1100" b="0" i="0">
                <a:solidFill>
                  <a:srgbClr val="FFFFFF"/>
                </a:solidFill>
                <a:latin typeface="Consolas"/>
              </a:rPr>
              <a:t>10 Legacoop cooperatives . lead Fabrica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00" y="5616000"/>
            <a:ext cx="468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F0C95C"/>
                </a:solidFill>
                <a:latin typeface="Consolas"/>
              </a:rPr>
              <a:t>Tender . </a:t>
            </a:r>
            <a:r>
              <a:rPr sz="1100" b="0" i="0">
                <a:solidFill>
                  <a:srgbClr val="FFFFFF"/>
                </a:solidFill>
                <a:latin typeface="Consolas"/>
              </a:rPr>
              <a:t>Coopfond Cooding Prototypes (Legacoop)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000" y="5832000"/>
            <a:ext cx="468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F0C95C"/>
                </a:solidFill>
                <a:latin typeface="Consolas"/>
              </a:rPr>
              <a:t>Compliance . </a:t>
            </a:r>
            <a:r>
              <a:rPr sz="1100" b="0" i="0">
                <a:solidFill>
                  <a:srgbClr val="FFFFFF"/>
                </a:solidFill>
                <a:latin typeface="Consolas"/>
              </a:rPr>
              <a:t>Italian PFTE art. 41 D.Lgs. 36/2023 + NASA SE Handbook Rev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0000" y="5184000"/>
            <a:ext cx="468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F0C95C"/>
                </a:solidFill>
                <a:latin typeface="Inter"/>
              </a:rPr>
              <a:t>€700k - €2M </a:t>
            </a:r>
            <a:r>
              <a:rPr sz="1200" b="0" i="0">
                <a:solidFill>
                  <a:srgbClr val="FFFFFF"/>
                </a:solidFill>
                <a:latin typeface="Consolas"/>
              </a:rPr>
              <a:t>CapEx Y1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0000" y="5543999"/>
            <a:ext cx="468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F0C95C"/>
                </a:solidFill>
                <a:latin typeface="Inter"/>
              </a:rPr>
              <a:t>€1.18M/y </a:t>
            </a:r>
            <a:r>
              <a:rPr sz="1200" b="0" i="0">
                <a:solidFill>
                  <a:srgbClr val="FFFFFF"/>
                </a:solidFill>
                <a:latin typeface="Consolas"/>
              </a:rPr>
              <a:t>OpEx Y2 reconciled (incl. regulatory team)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0000" y="5904000"/>
            <a:ext cx="468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F0C95C"/>
                </a:solidFill>
                <a:latin typeface="Inter"/>
              </a:rPr>
              <a:t>€260k </a:t>
            </a:r>
            <a:r>
              <a:rPr sz="1200" b="0" i="0">
                <a:solidFill>
                  <a:srgbClr val="FFFFFF"/>
                </a:solidFill>
                <a:latin typeface="Consolas"/>
              </a:rPr>
              <a:t>Revenue Y1 baseline (range €220-300k)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0000" y="6498000"/>
            <a:ext cx="54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0A1A3D"/>
                </a:solidFill>
                <a:latin typeface="Inter"/>
              </a:rPr>
              <a:t>FIRMAMENTO TECHNOLOGIES SOCIETA' COOPERATIVA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2119" y="6498000"/>
            <a:ext cx="54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i="0">
                <a:solidFill>
                  <a:srgbClr val="3A3A3A"/>
                </a:solidFill>
                <a:latin typeface="Consolas"/>
              </a:rPr>
              <a:t>P.IVA IT03038500991 . PEC firmamentotechnologies@pec.it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